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634788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FF3"/>
    <a:srgbClr val="FF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8" autoAdjust="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150" y="1284"/>
      </p:cViewPr>
      <p:guideLst>
        <p:guide orient="horz" pos="2160"/>
        <p:guide pos="27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4457" y="2130430"/>
            <a:ext cx="741717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8914" y="3886200"/>
            <a:ext cx="610826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02" y="4406905"/>
            <a:ext cx="74171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302" y="2906718"/>
            <a:ext cx="74171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9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1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6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8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6305" y="1600205"/>
            <a:ext cx="385402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5765" y="1600205"/>
            <a:ext cx="385402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07" y="1535113"/>
            <a:ext cx="385553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3" indent="0">
              <a:buNone/>
              <a:defRPr sz="2000" b="1"/>
            </a:lvl2pPr>
            <a:lvl3pPr marL="914466" indent="0">
              <a:buNone/>
              <a:defRPr sz="1800" b="1"/>
            </a:lvl3pPr>
            <a:lvl4pPr marL="1371700" indent="0">
              <a:buNone/>
              <a:defRPr sz="1600" b="1"/>
            </a:lvl4pPr>
            <a:lvl5pPr marL="1828932" indent="0">
              <a:buNone/>
              <a:defRPr sz="1600" b="1"/>
            </a:lvl5pPr>
            <a:lvl6pPr marL="2286165" indent="0">
              <a:buNone/>
              <a:defRPr sz="1600" b="1"/>
            </a:lvl6pPr>
            <a:lvl7pPr marL="2743399" indent="0">
              <a:buNone/>
              <a:defRPr sz="1600" b="1"/>
            </a:lvl7pPr>
            <a:lvl8pPr marL="3200632" indent="0">
              <a:buNone/>
              <a:defRPr sz="1600" b="1"/>
            </a:lvl8pPr>
            <a:lvl9pPr marL="36578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307" y="2174875"/>
            <a:ext cx="385553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32735" y="1535113"/>
            <a:ext cx="38570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3" indent="0">
              <a:buNone/>
              <a:defRPr sz="2000" b="1"/>
            </a:lvl2pPr>
            <a:lvl3pPr marL="914466" indent="0">
              <a:buNone/>
              <a:defRPr sz="1800" b="1"/>
            </a:lvl3pPr>
            <a:lvl4pPr marL="1371700" indent="0">
              <a:buNone/>
              <a:defRPr sz="1600" b="1"/>
            </a:lvl4pPr>
            <a:lvl5pPr marL="1828932" indent="0">
              <a:buNone/>
              <a:defRPr sz="1600" b="1"/>
            </a:lvl5pPr>
            <a:lvl6pPr marL="2286165" indent="0">
              <a:buNone/>
              <a:defRPr sz="1600" b="1"/>
            </a:lvl6pPr>
            <a:lvl7pPr marL="2743399" indent="0">
              <a:buNone/>
              <a:defRPr sz="1600" b="1"/>
            </a:lvl7pPr>
            <a:lvl8pPr marL="3200632" indent="0">
              <a:buNone/>
              <a:defRPr sz="1600" b="1"/>
            </a:lvl8pPr>
            <a:lvl9pPr marL="365786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32735" y="2174875"/>
            <a:ext cx="38570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306" y="273050"/>
            <a:ext cx="287082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659" y="273055"/>
            <a:ext cx="48781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6306" y="1435105"/>
            <a:ext cx="2870825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33" indent="0">
              <a:buNone/>
              <a:defRPr sz="1200"/>
            </a:lvl2pPr>
            <a:lvl3pPr marL="914466" indent="0">
              <a:buNone/>
              <a:defRPr sz="1000"/>
            </a:lvl3pPr>
            <a:lvl4pPr marL="1371700" indent="0">
              <a:buNone/>
              <a:defRPr sz="900"/>
            </a:lvl4pPr>
            <a:lvl5pPr marL="1828932" indent="0">
              <a:buNone/>
              <a:defRPr sz="900"/>
            </a:lvl5pPr>
            <a:lvl6pPr marL="2286165" indent="0">
              <a:buNone/>
              <a:defRPr sz="900"/>
            </a:lvl6pPr>
            <a:lvl7pPr marL="2743399" indent="0">
              <a:buNone/>
              <a:defRPr sz="900"/>
            </a:lvl7pPr>
            <a:lvl8pPr marL="3200632" indent="0">
              <a:buNone/>
              <a:defRPr sz="900"/>
            </a:lvl8pPr>
            <a:lvl9pPr marL="365786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0376" y="4800600"/>
            <a:ext cx="523565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10376" y="612775"/>
            <a:ext cx="523565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33" indent="0">
              <a:buNone/>
              <a:defRPr sz="2800"/>
            </a:lvl2pPr>
            <a:lvl3pPr marL="914466" indent="0">
              <a:buNone/>
              <a:defRPr sz="2400"/>
            </a:lvl3pPr>
            <a:lvl4pPr marL="1371700" indent="0">
              <a:buNone/>
              <a:defRPr sz="2000"/>
            </a:lvl4pPr>
            <a:lvl5pPr marL="1828932" indent="0">
              <a:buNone/>
              <a:defRPr sz="2000"/>
            </a:lvl5pPr>
            <a:lvl6pPr marL="2286165" indent="0">
              <a:buNone/>
              <a:defRPr sz="2000"/>
            </a:lvl6pPr>
            <a:lvl7pPr marL="2743399" indent="0">
              <a:buNone/>
              <a:defRPr sz="2000"/>
            </a:lvl7pPr>
            <a:lvl8pPr marL="3200632" indent="0">
              <a:buNone/>
              <a:defRPr sz="2000"/>
            </a:lvl8pPr>
            <a:lvl9pPr marL="3657865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0376" y="5367338"/>
            <a:ext cx="523565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33" indent="0">
              <a:buNone/>
              <a:defRPr sz="1200"/>
            </a:lvl2pPr>
            <a:lvl3pPr marL="914466" indent="0">
              <a:buNone/>
              <a:defRPr sz="1000"/>
            </a:lvl3pPr>
            <a:lvl4pPr marL="1371700" indent="0">
              <a:buNone/>
              <a:defRPr sz="900"/>
            </a:lvl4pPr>
            <a:lvl5pPr marL="1828932" indent="0">
              <a:buNone/>
              <a:defRPr sz="900"/>
            </a:lvl5pPr>
            <a:lvl6pPr marL="2286165" indent="0">
              <a:buNone/>
              <a:defRPr sz="900"/>
            </a:lvl6pPr>
            <a:lvl7pPr marL="2743399" indent="0">
              <a:buNone/>
              <a:defRPr sz="900"/>
            </a:lvl7pPr>
            <a:lvl8pPr marL="3200632" indent="0">
              <a:buNone/>
              <a:defRPr sz="900"/>
            </a:lvl8pPr>
            <a:lvl9pPr marL="365786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26416" y="274643"/>
            <a:ext cx="196337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6305" y="274643"/>
            <a:ext cx="5744676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6305" y="274638"/>
            <a:ext cx="785348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305" y="1600205"/>
            <a:ext cx="785348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6306" y="6356355"/>
            <a:ext cx="20360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415" y="6356355"/>
            <a:ext cx="2763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53700" y="6356355"/>
            <a:ext cx="20360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33" rtl="0" eaLnBrk="1" latinLnBrk="0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25" indent="-342925" algn="l" defTabSz="457233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3004" indent="-285771" algn="l" defTabSz="457233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83" indent="-228617" algn="l" defTabSz="457233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16" indent="-228617" algn="l" defTabSz="457233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49" indent="-228617" algn="l" defTabSz="457233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82" indent="-228617" algn="l" defTabSz="45723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15" indent="-228617" algn="l" defTabSz="45723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49" indent="-228617" algn="l" defTabSz="45723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82" indent="-228617" algn="l" defTabSz="45723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3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66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0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32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65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99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32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65" algn="l" defTabSz="457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196913" y="601113"/>
            <a:ext cx="1727396" cy="6477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sz="1200" b="1" dirty="0">
                <a:solidFill>
                  <a:srgbClr val="172033"/>
                </a:solidFill>
              </a:rPr>
              <a:t>Scene Construction</a:t>
            </a:r>
            <a:endParaRPr lang="en-US" sz="1200" b="1" dirty="0">
              <a:solidFill>
                <a:srgbClr val="172033"/>
              </a:solidFill>
            </a:endParaRP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COLMAP, PGSR, Proxy Mesh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350D2C-D1DA-018F-F373-B7DDAE5428C4}"/>
              </a:ext>
            </a:extLst>
          </p:cNvPr>
          <p:cNvSpPr txBox="1"/>
          <p:nvPr/>
        </p:nvSpPr>
        <p:spPr>
          <a:xfrm>
            <a:off x="500540" y="173084"/>
            <a:ext cx="1120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1. Inputs</a:t>
            </a:r>
            <a:endParaRPr lang="ko-KR" altLang="en-US" sz="1400" b="1" dirty="0"/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41A56B00-C63A-6208-737D-EE3B5AEE3483}"/>
              </a:ext>
            </a:extLst>
          </p:cNvPr>
          <p:cNvSpPr/>
          <p:nvPr/>
        </p:nvSpPr>
        <p:spPr>
          <a:xfrm>
            <a:off x="2919891" y="1378353"/>
            <a:ext cx="1727396" cy="64770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Sionna RT</a:t>
            </a:r>
            <a:endParaRPr lang="en-US" sz="1000" dirty="0">
              <a:solidFill>
                <a:srgbClr val="172033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ounded Rectangle 13">
                <a:extLst>
                  <a:ext uri="{FF2B5EF4-FFF2-40B4-BE49-F238E27FC236}">
                    <a16:creationId xmlns:a16="http://schemas.microsoft.com/office/drawing/2014/main" id="{7966030F-DD7E-9E08-7261-E5EEE466D3F2}"/>
                  </a:ext>
                </a:extLst>
              </p:cNvPr>
              <p:cNvSpPr/>
              <p:nvPr/>
            </p:nvSpPr>
            <p:spPr>
              <a:xfrm>
                <a:off x="2919891" y="2424675"/>
                <a:ext cx="1727396" cy="647700"/>
              </a:xfrm>
              <a:prstGeom prst="roundRect">
                <a:avLst/>
              </a:prstGeom>
              <a:solidFill>
                <a:srgbClr val="FFF5EB"/>
              </a:solidFill>
              <a:ln w="12700">
                <a:solidFill>
                  <a:srgbClr val="2563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36576" rIns="54864" bIns="36576" rtlCol="0" anchor="ctr">
                <a:normAutofit/>
              </a:bodyPr>
              <a:lstStyle/>
              <a:p>
                <a:pPr algn="ctr">
                  <a:spcAft>
                    <a:spcPts val="300"/>
                  </a:spcAft>
                </a:pPr>
                <a:r>
                  <a:rPr lang="en-US" sz="1200" b="1" dirty="0">
                    <a:solidFill>
                      <a:srgbClr val="172033"/>
                    </a:solidFill>
                  </a:rPr>
                  <a:t>Residual</a:t>
                </a:r>
              </a:p>
              <a:p>
                <a:pPr algn="ctr"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000" b="0" i="1" smtClean="0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mtClean="0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00" b="0" i="1" smtClean="0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000" i="1">
                          <a:solidFill>
                            <a:srgbClr val="1720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000" i="1">
                          <a:solidFill>
                            <a:srgbClr val="172033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000" i="1">
                          <a:solidFill>
                            <a:srgbClr val="17203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000" i="1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000" i="1">
                                  <a:solidFill>
                                    <a:srgbClr val="1720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000" i="1">
                                  <a:solidFill>
                                    <a:srgbClr val="17203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ko-KR" sz="1000" b="0" i="1" smtClean="0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ko-KR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dirty="0">
                  <a:solidFill>
                    <a:srgbClr val="172033"/>
                  </a:solidFill>
                </a:endParaRPr>
              </a:p>
            </p:txBody>
          </p:sp>
        </mc:Choice>
        <mc:Fallback>
          <p:sp>
            <p:nvSpPr>
              <p:cNvPr id="23" name="Rounded Rectangle 13">
                <a:extLst>
                  <a:ext uri="{FF2B5EF4-FFF2-40B4-BE49-F238E27FC236}">
                    <a16:creationId xmlns:a16="http://schemas.microsoft.com/office/drawing/2014/main" id="{7966030F-DD7E-9E08-7261-E5EEE466D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891" y="2424675"/>
                <a:ext cx="1727396" cy="6477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2563EB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A7B695F-D15C-EE52-2BF0-174C67A5E43D}"/>
              </a:ext>
            </a:extLst>
          </p:cNvPr>
          <p:cNvSpPr txBox="1"/>
          <p:nvPr/>
        </p:nvSpPr>
        <p:spPr>
          <a:xfrm>
            <a:off x="3869254" y="175940"/>
            <a:ext cx="2193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2. Prediction &amp; Correction</a:t>
            </a:r>
            <a:endParaRPr lang="ko-KR" altLang="en-US" sz="1400" b="1" dirty="0"/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8D930040-768D-5F52-C95C-A5A9A2FA98CC}"/>
              </a:ext>
            </a:extLst>
          </p:cNvPr>
          <p:cNvSpPr/>
          <p:nvPr/>
        </p:nvSpPr>
        <p:spPr>
          <a:xfrm>
            <a:off x="196913" y="1776975"/>
            <a:ext cx="1727396" cy="6477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Calibration RSSI</a:t>
            </a:r>
            <a:endParaRPr lang="en-US" sz="1000" dirty="0">
              <a:solidFill>
                <a:srgbClr val="172033"/>
              </a:solidFill>
            </a:endParaRPr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4CCED7E1-19D1-7AF7-0D4B-AE195DCAEDD8}"/>
              </a:ext>
            </a:extLst>
          </p:cNvPr>
          <p:cNvSpPr/>
          <p:nvPr/>
        </p:nvSpPr>
        <p:spPr>
          <a:xfrm>
            <a:off x="196913" y="3180246"/>
            <a:ext cx="1727396" cy="6477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Test RSSI</a:t>
            </a:r>
            <a:endParaRPr lang="en-US" sz="1000" dirty="0">
              <a:solidFill>
                <a:srgbClr val="172033"/>
              </a:solidFill>
            </a:endParaRP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0700AADD-6F2B-077E-B786-AAB5E5687A2E}"/>
              </a:ext>
            </a:extLst>
          </p:cNvPr>
          <p:cNvSpPr/>
          <p:nvPr/>
        </p:nvSpPr>
        <p:spPr>
          <a:xfrm>
            <a:off x="5652733" y="1191009"/>
            <a:ext cx="1062826" cy="1740515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Estimators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Uncorrected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Plain IDW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Residual IDW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Global bias</a:t>
            </a:r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A1B7D724-D456-4FDB-DAD1-0938B13DFB74}"/>
              </a:ext>
            </a:extLst>
          </p:cNvPr>
          <p:cNvSpPr/>
          <p:nvPr/>
        </p:nvSpPr>
        <p:spPr>
          <a:xfrm>
            <a:off x="8007590" y="2259508"/>
            <a:ext cx="1062000" cy="1568438"/>
          </a:xfrm>
          <a:prstGeom prst="roundRect">
            <a:avLst/>
          </a:prstGeom>
          <a:solidFill>
            <a:srgbClr val="EBFFF3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Evaluation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MAE / RMSE</a:t>
            </a:r>
          </a:p>
          <a:p>
            <a:pPr algn="ctr">
              <a:spcAft>
                <a:spcPts val="300"/>
              </a:spcAft>
            </a:pPr>
            <a:r>
              <a:rPr lang="en-US" sz="1000" dirty="0" err="1">
                <a:solidFill>
                  <a:srgbClr val="172033"/>
                </a:solidFill>
              </a:rPr>
              <a:t>LoS</a:t>
            </a:r>
            <a:r>
              <a:rPr lang="en-US" sz="1000" dirty="0">
                <a:solidFill>
                  <a:srgbClr val="172033"/>
                </a:solidFill>
              </a:rPr>
              <a:t> / </a:t>
            </a:r>
            <a:r>
              <a:rPr lang="en-US" sz="1000" dirty="0" err="1">
                <a:solidFill>
                  <a:srgbClr val="172033"/>
                </a:solidFill>
              </a:rPr>
              <a:t>NLoS</a:t>
            </a:r>
            <a:r>
              <a:rPr lang="en-US" sz="1000" dirty="0">
                <a:solidFill>
                  <a:srgbClr val="172033"/>
                </a:solidFill>
              </a:rPr>
              <a:t> bias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8117F39D-9F31-DF14-2E21-BC358ABDE590}"/>
              </a:ext>
            </a:extLst>
          </p:cNvPr>
          <p:cNvSpPr/>
          <p:nvPr/>
        </p:nvSpPr>
        <p:spPr>
          <a:xfrm>
            <a:off x="8007590" y="1092284"/>
            <a:ext cx="1062000" cy="1051260"/>
          </a:xfrm>
          <a:prstGeom prst="roundRect">
            <a:avLst/>
          </a:prstGeom>
          <a:solidFill>
            <a:srgbClr val="EBFFF3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Renderer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3DGS Scene</a:t>
            </a:r>
          </a:p>
          <a:p>
            <a:pPr algn="ctr">
              <a:spcAft>
                <a:spcPts val="300"/>
              </a:spcAft>
            </a:pPr>
            <a:r>
              <a:rPr lang="en-US" sz="1000" dirty="0">
                <a:solidFill>
                  <a:srgbClr val="172033"/>
                </a:solidFill>
              </a:rPr>
              <a:t>3D RF Volume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D580F72-7AA7-5FC1-1EFE-E9B34CB1AF5B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924309" y="3504096"/>
            <a:ext cx="60832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870B6670-F645-C903-4D01-E97DB53AFA85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6715559" y="2061267"/>
            <a:ext cx="1292031" cy="982460"/>
          </a:xfrm>
          <a:prstGeom prst="bentConnector3">
            <a:avLst>
              <a:gd name="adj1" fmla="val 4997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E1153A5-AC6C-5BC2-594D-651838BA2A08}"/>
              </a:ext>
            </a:extLst>
          </p:cNvPr>
          <p:cNvCxnSpPr>
            <a:stCxn id="25" idx="3"/>
            <a:endCxn id="23" idx="1"/>
          </p:cNvCxnSpPr>
          <p:nvPr/>
        </p:nvCxnSpPr>
        <p:spPr>
          <a:xfrm>
            <a:off x="1924309" y="2100825"/>
            <a:ext cx="995582" cy="647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EE7DD04D-EC64-DFAD-07C3-6E057CD94C7C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>
            <a:off x="4647287" y="1702203"/>
            <a:ext cx="1005446" cy="359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C377EC3A-BD9B-79B2-566F-AE8E1B5EEA8D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4647287" y="2061267"/>
            <a:ext cx="1005446" cy="6872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0B2D63F6-9C69-610D-B039-DCA9B32E6DFF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3783589" y="2026053"/>
            <a:ext cx="0" cy="398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F08185C-1169-CA4C-64DD-6075DB595803}"/>
                  </a:ext>
                </a:extLst>
              </p:cNvPr>
              <p:cNvSpPr txBox="1"/>
              <p:nvPr/>
            </p:nvSpPr>
            <p:spPr>
              <a:xfrm>
                <a:off x="2005027" y="1850141"/>
                <a:ext cx="36478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F08185C-1169-CA4C-64DD-6075DB595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027" y="1850141"/>
                <a:ext cx="364780" cy="169277"/>
              </a:xfrm>
              <a:prstGeom prst="rect">
                <a:avLst/>
              </a:prstGeom>
              <a:blipFill>
                <a:blip r:embed="rId3"/>
                <a:stretch>
                  <a:fillRect l="-8333" r="-15000" b="-407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952CF649-6EDF-013C-9177-EADF0D902149}"/>
              </a:ext>
            </a:extLst>
          </p:cNvPr>
          <p:cNvCxnSpPr>
            <a:cxnSpLocks/>
            <a:stCxn id="14" idx="3"/>
            <a:endCxn id="22" idx="0"/>
          </p:cNvCxnSpPr>
          <p:nvPr/>
        </p:nvCxnSpPr>
        <p:spPr>
          <a:xfrm>
            <a:off x="1924309" y="924963"/>
            <a:ext cx="1859280" cy="45339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8A8BC13-AE0F-7A53-B073-3CA72389C513}"/>
              </a:ext>
            </a:extLst>
          </p:cNvPr>
          <p:cNvSpPr txBox="1"/>
          <p:nvPr/>
        </p:nvSpPr>
        <p:spPr>
          <a:xfrm>
            <a:off x="8875514" y="175940"/>
            <a:ext cx="1507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3. Outputs</a:t>
            </a:r>
            <a:endParaRPr lang="ko-KR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AA06EE7-A010-022B-7561-6EBF5E794CAE}"/>
                  </a:ext>
                </a:extLst>
              </p:cNvPr>
              <p:cNvSpPr txBox="1"/>
              <p:nvPr/>
            </p:nvSpPr>
            <p:spPr>
              <a:xfrm>
                <a:off x="3858243" y="2126247"/>
                <a:ext cx="419794" cy="1738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ko-KR" sz="1100" i="1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100" i="1">
                                  <a:solidFill>
                                    <a:srgbClr val="1720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i="1">
                                  <a:solidFill>
                                    <a:srgbClr val="17203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ko-KR" sz="1100" b="0" i="1" smtClean="0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AA06EE7-A010-022B-7561-6EBF5E794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243" y="2126247"/>
                <a:ext cx="419794" cy="173830"/>
              </a:xfrm>
              <a:prstGeom prst="rect">
                <a:avLst/>
              </a:prstGeom>
              <a:blipFill>
                <a:blip r:embed="rId4"/>
                <a:stretch>
                  <a:fillRect l="-7246" t="-17857" r="-13043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B6B7DE63-0089-15FE-31D1-4929BF6B327A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 flipV="1">
            <a:off x="6715559" y="1617914"/>
            <a:ext cx="1292031" cy="4433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ounded Rectangle 13">
            <a:extLst>
              <a:ext uri="{FF2B5EF4-FFF2-40B4-BE49-F238E27FC236}">
                <a16:creationId xmlns:a16="http://schemas.microsoft.com/office/drawing/2014/main" id="{1978EF40-B822-3851-8BCD-C171DC886D09}"/>
              </a:ext>
            </a:extLst>
          </p:cNvPr>
          <p:cNvSpPr/>
          <p:nvPr/>
        </p:nvSpPr>
        <p:spPr>
          <a:xfrm>
            <a:off x="9810396" y="1293903"/>
            <a:ext cx="1727396" cy="648022"/>
          </a:xfrm>
          <a:prstGeom prst="roundRect">
            <a:avLst/>
          </a:prstGeom>
          <a:solidFill>
            <a:srgbClr val="EBFFF3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rmAutofit/>
          </a:bodyPr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Handheld</a:t>
            </a:r>
          </a:p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172033"/>
                </a:solidFill>
              </a:rPr>
              <a:t>Device</a:t>
            </a:r>
            <a:endParaRPr lang="en-US" sz="1000" dirty="0">
              <a:solidFill>
                <a:srgbClr val="172033"/>
              </a:solidFill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173DDF8-64F1-F175-11C7-6CADC366867B}"/>
              </a:ext>
            </a:extLst>
          </p:cNvPr>
          <p:cNvCxnSpPr>
            <a:stCxn id="29" idx="3"/>
            <a:endCxn id="70" idx="1"/>
          </p:cNvCxnSpPr>
          <p:nvPr/>
        </p:nvCxnSpPr>
        <p:spPr>
          <a:xfrm>
            <a:off x="9069590" y="1617914"/>
            <a:ext cx="7408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052ACED8-8C70-7070-5849-B3B2FC9910E7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2438400" y="2748525"/>
            <a:ext cx="3745746" cy="182999"/>
          </a:xfrm>
          <a:prstGeom prst="bentConnector4">
            <a:avLst>
              <a:gd name="adj1" fmla="val -441"/>
              <a:gd name="adj2" fmla="val 27176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8DC1D72-62E8-1435-31E6-B3575FEB8ED0}"/>
                  </a:ext>
                </a:extLst>
              </p:cNvPr>
              <p:cNvSpPr txBox="1"/>
              <p:nvPr/>
            </p:nvSpPr>
            <p:spPr>
              <a:xfrm>
                <a:off x="4715927" y="1449539"/>
                <a:ext cx="379206" cy="17383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altLang="ko-KR" sz="1100" i="1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100" i="1">
                                  <a:solidFill>
                                    <a:srgbClr val="1720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100" i="1">
                                  <a:solidFill>
                                    <a:srgbClr val="17203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acc>
                        </m:e>
                        <m:sub>
                          <m:r>
                            <a:rPr lang="en-US" altLang="ko-KR" sz="1100" b="0" i="1" smtClean="0">
                              <a:solidFill>
                                <a:srgbClr val="172033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1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8DC1D72-62E8-1435-31E6-B3575FEB8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927" y="1449539"/>
                <a:ext cx="379206" cy="173830"/>
              </a:xfrm>
              <a:prstGeom prst="rect">
                <a:avLst/>
              </a:prstGeom>
              <a:blipFill>
                <a:blip r:embed="rId5"/>
                <a:stretch>
                  <a:fillRect l="-8065" t="-17857" r="-14516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05D5595D-FF81-7411-D77C-1D8D1568D256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12369" y="924963"/>
            <a:ext cx="4826221" cy="1673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59</TotalTime>
  <Words>73</Words>
  <Application>Microsoft Office PowerPoint</Application>
  <PresentationFormat>사용자 지정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Seung Woo Lee</cp:lastModifiedBy>
  <cp:revision>36</cp:revision>
  <dcterms:created xsi:type="dcterms:W3CDTF">2013-01-27T09:14:16Z</dcterms:created>
  <dcterms:modified xsi:type="dcterms:W3CDTF">2026-09-13T16:42:36Z</dcterms:modified>
  <cp:category/>
</cp:coreProperties>
</file>