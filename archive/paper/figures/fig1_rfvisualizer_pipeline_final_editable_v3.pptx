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5240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7248" autoAdjust="0"/>
    <p:restoredTop sz="94360" autoAdjust="0"/>
  </p:normalViewPr>
  <p:slideViewPr>
    <p:cSldViewPr snapToGrid="0">
      <p:cViewPr varScale="1">
        <p:scale>
          <a:sx n="55" d="100"/>
          <a:sy n="55" d="100"/>
        </p:scale>
        <p:origin x="90" y="12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근거</a:t>
            </a:r>
            <a:r>
              <a:rPr dirty="0"/>
              <a:t>: archive/paper/manuscript_kmms_final.md 3.4–3.8. </a:t>
            </a:r>
            <a:r>
              <a:rPr dirty="0" err="1"/>
              <a:t>Sionna</a:t>
            </a:r>
            <a:r>
              <a:rPr dirty="0"/>
              <a:t> </a:t>
            </a:r>
            <a:r>
              <a:rPr dirty="0" err="1"/>
              <a:t>RT의</a:t>
            </a:r>
            <a:r>
              <a:rPr dirty="0"/>
              <a:t> </a:t>
            </a:r>
            <a:r>
              <a:rPr dirty="0" err="1"/>
              <a:t>지점</a:t>
            </a:r>
            <a:r>
              <a:rPr dirty="0"/>
              <a:t> </a:t>
            </a:r>
            <a:r>
              <a:rPr dirty="0" err="1"/>
              <a:t>예측과</a:t>
            </a:r>
            <a:r>
              <a:rPr dirty="0"/>
              <a:t> </a:t>
            </a:r>
            <a:r>
              <a:rPr dirty="0" err="1"/>
              <a:t>격자</a:t>
            </a:r>
            <a:r>
              <a:rPr dirty="0"/>
              <a:t> </a:t>
            </a:r>
            <a:r>
              <a:rPr dirty="0" err="1"/>
              <a:t>예측은</a:t>
            </a:r>
            <a:r>
              <a:rPr dirty="0"/>
              <a:t> </a:t>
            </a:r>
            <a:r>
              <a:rPr dirty="0" err="1"/>
              <a:t>병렬</a:t>
            </a:r>
            <a:r>
              <a:rPr dirty="0"/>
              <a:t> </a:t>
            </a:r>
            <a:r>
              <a:rPr dirty="0" err="1"/>
              <a:t>분기다</a:t>
            </a:r>
            <a:r>
              <a:rPr dirty="0"/>
              <a:t>. </a:t>
            </a:r>
            <a:r>
              <a:rPr dirty="0" err="1"/>
              <a:t>지점</a:t>
            </a:r>
            <a:r>
              <a:rPr dirty="0"/>
              <a:t> </a:t>
            </a:r>
            <a:r>
              <a:rPr dirty="0" err="1"/>
              <a:t>예측은</a:t>
            </a:r>
            <a:r>
              <a:rPr dirty="0"/>
              <a:t> Calibration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방법</a:t>
            </a:r>
            <a:r>
              <a:rPr dirty="0"/>
              <a:t> </a:t>
            </a:r>
            <a:r>
              <a:rPr dirty="0" err="1"/>
              <a:t>구성과</a:t>
            </a:r>
            <a:r>
              <a:rPr dirty="0"/>
              <a:t> Test </a:t>
            </a:r>
            <a:r>
              <a:rPr dirty="0" err="1"/>
              <a:t>위치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 </a:t>
            </a:r>
            <a:r>
              <a:rPr dirty="0" err="1"/>
              <a:t>평가에</a:t>
            </a:r>
            <a:r>
              <a:rPr dirty="0"/>
              <a:t> </a:t>
            </a:r>
            <a:r>
              <a:rPr dirty="0" err="1"/>
              <a:t>사용한다</a:t>
            </a:r>
            <a:r>
              <a:rPr dirty="0"/>
              <a:t>. </a:t>
            </a:r>
            <a:r>
              <a:rPr dirty="0" err="1"/>
              <a:t>격자</a:t>
            </a:r>
            <a:r>
              <a:rPr dirty="0"/>
              <a:t> </a:t>
            </a:r>
            <a:r>
              <a:rPr dirty="0" err="1"/>
              <a:t>예측은</a:t>
            </a:r>
            <a:r>
              <a:rPr dirty="0"/>
              <a:t> Raw </a:t>
            </a:r>
            <a:r>
              <a:rPr dirty="0" err="1"/>
              <a:t>Sionna</a:t>
            </a:r>
            <a:r>
              <a:rPr dirty="0"/>
              <a:t> RT, Plain IDW, Residual </a:t>
            </a:r>
            <a:r>
              <a:rPr dirty="0" err="1"/>
              <a:t>IDW의</a:t>
            </a:r>
            <a:r>
              <a:rPr dirty="0"/>
              <a:t> </a:t>
            </a:r>
            <a:r>
              <a:rPr dirty="0" err="1"/>
              <a:t>다중</a:t>
            </a:r>
            <a:r>
              <a:rPr dirty="0"/>
              <a:t> </a:t>
            </a:r>
            <a:r>
              <a:rPr dirty="0" err="1"/>
              <a:t>높이</a:t>
            </a:r>
            <a:r>
              <a:rPr dirty="0"/>
              <a:t> </a:t>
            </a:r>
            <a:r>
              <a:rPr dirty="0" err="1"/>
              <a:t>격자와</a:t>
            </a:r>
            <a:r>
              <a:rPr dirty="0"/>
              <a:t> 3D RF Volume </a:t>
            </a:r>
            <a:r>
              <a:rPr dirty="0" err="1"/>
              <a:t>생성에</a:t>
            </a:r>
            <a:r>
              <a:rPr dirty="0"/>
              <a:t> </a:t>
            </a:r>
            <a:r>
              <a:rPr dirty="0" err="1"/>
              <a:t>사용한다</a:t>
            </a:r>
            <a:r>
              <a:rPr dirty="0"/>
              <a:t>. Global-</a:t>
            </a:r>
            <a:r>
              <a:rPr dirty="0" err="1"/>
              <a:t>bias는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 </a:t>
            </a:r>
            <a:r>
              <a:rPr dirty="0" err="1"/>
              <a:t>평가에</a:t>
            </a:r>
            <a:r>
              <a:rPr dirty="0"/>
              <a:t> </a:t>
            </a:r>
            <a:r>
              <a:rPr dirty="0" err="1"/>
              <a:t>포함하지만</a:t>
            </a:r>
            <a:r>
              <a:rPr dirty="0"/>
              <a:t> </a:t>
            </a:r>
            <a:r>
              <a:rPr dirty="0" err="1"/>
              <a:t>논문</a:t>
            </a:r>
            <a:r>
              <a:rPr dirty="0"/>
              <a:t> 3.8의 </a:t>
            </a:r>
            <a:r>
              <a:rPr dirty="0" err="1"/>
              <a:t>렌더러</a:t>
            </a:r>
            <a:r>
              <a:rPr dirty="0"/>
              <a:t> </a:t>
            </a:r>
            <a:r>
              <a:rPr dirty="0" err="1"/>
              <a:t>전환</a:t>
            </a:r>
            <a:r>
              <a:rPr dirty="0"/>
              <a:t> </a:t>
            </a:r>
            <a:r>
              <a:rPr dirty="0" err="1"/>
              <a:t>대상에서는</a:t>
            </a:r>
            <a:r>
              <a:rPr dirty="0"/>
              <a:t> </a:t>
            </a:r>
            <a:r>
              <a:rPr dirty="0" err="1"/>
              <a:t>제외한다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cene-header">
            <a:extLst>
              <a:ext uri="{FF2B5EF4-FFF2-40B4-BE49-F238E27FC236}">
                <a16:creationId xmlns:a16="http://schemas.microsoft.com/office/drawing/2014/main" id="{3ABD1331-8CAF-4ECC-8530-6D760F5A38AC}"/>
              </a:ext>
            </a:extLst>
          </p:cNvPr>
          <p:cNvSpPr>
            <a:spLocks noGrp="1"/>
          </p:cNvSpPr>
          <p:nvPr/>
        </p:nvSpPr>
        <p:spPr>
          <a:xfrm>
            <a:off x="190500" y="171450"/>
            <a:ext cx="2286000" cy="342900"/>
          </a:xfrm>
          <a:prstGeom prst="roundRect">
            <a:avLst>
              <a:gd name="adj" fmla="val 25000"/>
            </a:avLst>
          </a:prstGeom>
          <a:solidFill>
            <a:srgbClr val="E8F1FF"/>
          </a:solidFill>
          <a:ln w="12383">
            <a:solidFill>
              <a:srgbClr val="4E7FCF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8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8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1  장면 구축</a:t>
            </a:r>
          </a:p>
        </p:txBody>
      </p:sp>
      <p:sp>
        <p:nvSpPr>
          <p:cNvPr id="2" name="measurement-header">
            <a:extLst>
              <a:ext uri="{FF2B5EF4-FFF2-40B4-BE49-F238E27FC236}">
                <a16:creationId xmlns:a16="http://schemas.microsoft.com/office/drawing/2014/main" id="{196A511E-76AD-41D2-82ED-C691EBA4725C}"/>
              </a:ext>
            </a:extLst>
          </p:cNvPr>
          <p:cNvSpPr>
            <a:spLocks noGrp="1"/>
          </p:cNvSpPr>
          <p:nvPr/>
        </p:nvSpPr>
        <p:spPr>
          <a:xfrm>
            <a:off x="2686050" y="171450"/>
            <a:ext cx="2286000" cy="342900"/>
          </a:xfrm>
          <a:prstGeom prst="roundRect">
            <a:avLst>
              <a:gd name="adj" fmla="val 25000"/>
            </a:avLst>
          </a:prstGeom>
          <a:solidFill>
            <a:srgbClr val="EAF6E7"/>
          </a:solidFill>
          <a:ln w="12383">
            <a:solidFill>
              <a:srgbClr val="5D9C58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8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8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2  계측</a:t>
            </a:r>
          </a:p>
        </p:txBody>
      </p:sp>
      <p:sp>
        <p:nvSpPr>
          <p:cNvPr id="3" name="simulation-header">
            <a:extLst>
              <a:ext uri="{FF2B5EF4-FFF2-40B4-BE49-F238E27FC236}">
                <a16:creationId xmlns:a16="http://schemas.microsoft.com/office/drawing/2014/main" id="{6BA055CE-1F49-4E0A-9673-0FD377E1F284}"/>
              </a:ext>
            </a:extLst>
          </p:cNvPr>
          <p:cNvSpPr>
            <a:spLocks noGrp="1"/>
          </p:cNvSpPr>
          <p:nvPr/>
        </p:nvSpPr>
        <p:spPr>
          <a:xfrm>
            <a:off x="5181600" y="171450"/>
            <a:ext cx="2286000" cy="342900"/>
          </a:xfrm>
          <a:prstGeom prst="roundRect">
            <a:avLst>
              <a:gd name="adj" fmla="val 25000"/>
            </a:avLst>
          </a:prstGeom>
          <a:solidFill>
            <a:srgbClr val="F2EAF8"/>
          </a:solidFill>
          <a:ln w="12383">
            <a:solidFill>
              <a:srgbClr val="8B63A8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8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8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3  전파 계산</a:t>
            </a:r>
          </a:p>
        </p:txBody>
      </p:sp>
      <p:sp>
        <p:nvSpPr>
          <p:cNvPr id="4" name="correction-header">
            <a:extLst>
              <a:ext uri="{FF2B5EF4-FFF2-40B4-BE49-F238E27FC236}">
                <a16:creationId xmlns:a16="http://schemas.microsoft.com/office/drawing/2014/main" id="{12300564-DA64-4996-A55F-27B1B1EDFF2F}"/>
              </a:ext>
            </a:extLst>
          </p:cNvPr>
          <p:cNvSpPr>
            <a:spLocks noGrp="1"/>
          </p:cNvSpPr>
          <p:nvPr/>
        </p:nvSpPr>
        <p:spPr>
          <a:xfrm>
            <a:off x="7677150" y="171450"/>
            <a:ext cx="2286000" cy="342900"/>
          </a:xfrm>
          <a:prstGeom prst="roundRect">
            <a:avLst>
              <a:gd name="adj" fmla="val 25000"/>
            </a:avLst>
          </a:prstGeom>
          <a:solidFill>
            <a:srgbClr val="FFF1DB"/>
          </a:solidFill>
          <a:ln w="12383">
            <a:solidFill>
              <a:srgbClr val="D9912D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8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8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4  측정 보정</a:t>
            </a:r>
          </a:p>
        </p:txBody>
      </p:sp>
      <p:sp>
        <p:nvSpPr>
          <p:cNvPr id="5" name="evaluation-header">
            <a:extLst>
              <a:ext uri="{FF2B5EF4-FFF2-40B4-BE49-F238E27FC236}">
                <a16:creationId xmlns:a16="http://schemas.microsoft.com/office/drawing/2014/main" id="{F8B38286-301A-49E8-A8A2-A8E27F060405}"/>
              </a:ext>
            </a:extLst>
          </p:cNvPr>
          <p:cNvSpPr>
            <a:spLocks noGrp="1"/>
          </p:cNvSpPr>
          <p:nvPr/>
        </p:nvSpPr>
        <p:spPr>
          <a:xfrm>
            <a:off x="10172700" y="171450"/>
            <a:ext cx="2286000" cy="342900"/>
          </a:xfrm>
          <a:prstGeom prst="roundRect">
            <a:avLst>
              <a:gd name="adj" fmla="val 25000"/>
            </a:avLst>
          </a:prstGeom>
          <a:solidFill>
            <a:srgbClr val="E6F6F7"/>
          </a:solidFill>
          <a:ln w="12383">
            <a:solidFill>
              <a:srgbClr val="3D949B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8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8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5  비교 평가</a:t>
            </a:r>
          </a:p>
        </p:txBody>
      </p:sp>
      <p:sp>
        <p:nvSpPr>
          <p:cNvPr id="6" name="visualization-header">
            <a:extLst>
              <a:ext uri="{FF2B5EF4-FFF2-40B4-BE49-F238E27FC236}">
                <a16:creationId xmlns:a16="http://schemas.microsoft.com/office/drawing/2014/main" id="{5A5A68B4-566C-4AFA-B975-23B3AE78E6EB}"/>
              </a:ext>
            </a:extLst>
          </p:cNvPr>
          <p:cNvSpPr>
            <a:spLocks noGrp="1"/>
          </p:cNvSpPr>
          <p:nvPr/>
        </p:nvSpPr>
        <p:spPr>
          <a:xfrm>
            <a:off x="12668250" y="171450"/>
            <a:ext cx="2381250" cy="342900"/>
          </a:xfrm>
          <a:prstGeom prst="roundRect">
            <a:avLst>
              <a:gd name="adj" fmla="val 25000"/>
            </a:avLst>
          </a:prstGeom>
          <a:solidFill>
            <a:srgbClr val="FDE9E7"/>
          </a:solidFill>
          <a:ln w="12383">
            <a:solidFill>
              <a:srgbClr val="C95D55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18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8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6  3D 시각화</a:t>
            </a:r>
          </a:p>
        </p:txBody>
      </p:sp>
      <p:sp>
        <p:nvSpPr>
          <p:cNvPr id="7" name="geometry-lane">
            <a:extLst>
              <a:ext uri="{FF2B5EF4-FFF2-40B4-BE49-F238E27FC236}">
                <a16:creationId xmlns:a16="http://schemas.microsoft.com/office/drawing/2014/main" id="{58730C13-535E-40F8-A9A4-AB62D6A8406D}"/>
              </a:ext>
            </a:extLst>
          </p:cNvPr>
          <p:cNvSpPr>
            <a:spLocks noGrp="1"/>
          </p:cNvSpPr>
          <p:nvPr/>
        </p:nvSpPr>
        <p:spPr>
          <a:xfrm>
            <a:off x="190500" y="667431"/>
            <a:ext cx="1095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803" b="1">
                <a:solidFill>
                  <a:srgbClr val="4E7FCF"/>
                </a:solidFill>
                <a:latin typeface="Malgun Gothic"/>
                <a:ea typeface="Malgun Gothic"/>
                <a:cs typeface="Malgun Gothic"/>
              </a:defRPr>
            </a:pPr>
            <a:r>
              <a:rPr sz="803" b="1" dirty="0" err="1">
                <a:solidFill>
                  <a:srgbClr val="4E7FCF"/>
                </a:solidFill>
                <a:latin typeface="Malgun Gothic"/>
                <a:ea typeface="Malgun Gothic"/>
                <a:cs typeface="Malgun Gothic"/>
              </a:rPr>
              <a:t>시각·기하</a:t>
            </a:r>
            <a:r>
              <a:rPr sz="803" b="1" dirty="0">
                <a:solidFill>
                  <a:srgbClr val="4E7FC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03" b="1" dirty="0" err="1">
                <a:solidFill>
                  <a:srgbClr val="4E7FCF"/>
                </a:solidFill>
                <a:latin typeface="Malgun Gothic"/>
                <a:ea typeface="Malgun Gothic"/>
                <a:cs typeface="Malgun Gothic"/>
              </a:rPr>
              <a:t>경로</a:t>
            </a:r>
            <a:endParaRPr sz="803" b="1" dirty="0">
              <a:solidFill>
                <a:srgbClr val="4E7FC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measurement-lane">
            <a:extLst>
              <a:ext uri="{FF2B5EF4-FFF2-40B4-BE49-F238E27FC236}">
                <a16:creationId xmlns:a16="http://schemas.microsoft.com/office/drawing/2014/main" id="{D99C07F0-9371-4C6D-93D2-F380B4D5923D}"/>
              </a:ext>
            </a:extLst>
          </p:cNvPr>
          <p:cNvSpPr>
            <a:spLocks noGrp="1"/>
          </p:cNvSpPr>
          <p:nvPr/>
        </p:nvSpPr>
        <p:spPr>
          <a:xfrm>
            <a:off x="238125" y="3143250"/>
            <a:ext cx="1190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803" b="1">
                <a:solidFill>
                  <a:srgbClr val="5D9C58"/>
                </a:solidFill>
                <a:latin typeface="Malgun Gothic"/>
                <a:ea typeface="Malgun Gothic"/>
                <a:cs typeface="Malgun Gothic"/>
              </a:defRPr>
            </a:pPr>
            <a:r>
              <a:rPr sz="803" b="1">
                <a:solidFill>
                  <a:srgbClr val="5D9C58"/>
                </a:solidFill>
                <a:latin typeface="Malgun Gothic"/>
                <a:ea typeface="Malgun Gothic"/>
                <a:cs typeface="Malgun Gothic"/>
              </a:rPr>
              <a:t>실측·데이터 경로</a:t>
            </a:r>
          </a:p>
        </p:txBody>
      </p:sp>
      <p:sp>
        <p:nvSpPr>
          <p:cNvPr id="9" name="point-branch-label">
            <a:extLst>
              <a:ext uri="{FF2B5EF4-FFF2-40B4-BE49-F238E27FC236}">
                <a16:creationId xmlns:a16="http://schemas.microsoft.com/office/drawing/2014/main" id="{6949ACA2-4BE0-48EA-BAF9-9313DE1C764B}"/>
              </a:ext>
            </a:extLst>
          </p:cNvPr>
          <p:cNvSpPr>
            <a:spLocks noGrp="1"/>
          </p:cNvSpPr>
          <p:nvPr/>
        </p:nvSpPr>
        <p:spPr>
          <a:xfrm>
            <a:off x="10715625" y="609600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803" b="1">
                <a:solidFill>
                  <a:srgbClr val="8B63A8"/>
                </a:solidFill>
                <a:latin typeface="Malgun Gothic"/>
                <a:ea typeface="Malgun Gothic"/>
                <a:cs typeface="Malgun Gothic"/>
              </a:defRPr>
            </a:pPr>
            <a:r>
              <a:rPr sz="803" b="1">
                <a:solidFill>
                  <a:srgbClr val="8B63A8"/>
                </a:solidFill>
                <a:latin typeface="Malgun Gothic"/>
                <a:ea typeface="Malgun Gothic"/>
                <a:cs typeface="Malgun Gothic"/>
              </a:rPr>
              <a:t>지점 단위 분석</a:t>
            </a:r>
          </a:p>
        </p:txBody>
      </p:sp>
      <p:sp>
        <p:nvSpPr>
          <p:cNvPr id="10" name="grid-branch-label">
            <a:extLst>
              <a:ext uri="{FF2B5EF4-FFF2-40B4-BE49-F238E27FC236}">
                <a16:creationId xmlns:a16="http://schemas.microsoft.com/office/drawing/2014/main" id="{8FBC91D6-EDA4-4FED-9792-B42A4BF8707E}"/>
              </a:ext>
            </a:extLst>
          </p:cNvPr>
          <p:cNvSpPr>
            <a:spLocks noGrp="1"/>
          </p:cNvSpPr>
          <p:nvPr/>
        </p:nvSpPr>
        <p:spPr>
          <a:xfrm>
            <a:off x="10715625" y="25336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803" b="1">
                <a:solidFill>
                  <a:srgbClr val="C95D55"/>
                </a:solidFill>
                <a:latin typeface="Malgun Gothic"/>
                <a:ea typeface="Malgun Gothic"/>
                <a:cs typeface="Malgun Gothic"/>
              </a:defRPr>
            </a:pPr>
            <a:r>
              <a:rPr sz="803" b="1">
                <a:solidFill>
                  <a:srgbClr val="C95D55"/>
                </a:solidFill>
                <a:latin typeface="Malgun Gothic"/>
                <a:ea typeface="Malgun Gothic"/>
                <a:cs typeface="Malgun Gothic"/>
              </a:rPr>
              <a:t>격자 단위 시각화</a:t>
            </a:r>
          </a:p>
        </p:txBody>
      </p:sp>
      <p:sp>
        <p:nvSpPr>
          <p:cNvPr id="11" name="photos-box">
            <a:extLst>
              <a:ext uri="{FF2B5EF4-FFF2-40B4-BE49-F238E27FC236}">
                <a16:creationId xmlns:a16="http://schemas.microsoft.com/office/drawing/2014/main" id="{7C6EA007-3FD6-4FB5-82BD-CBF1178D81A6}"/>
              </a:ext>
            </a:extLst>
          </p:cNvPr>
          <p:cNvSpPr>
            <a:spLocks noGrp="1"/>
          </p:cNvSpPr>
          <p:nvPr/>
        </p:nvSpPr>
        <p:spPr>
          <a:xfrm>
            <a:off x="238125" y="1000125"/>
            <a:ext cx="1047750" cy="742950"/>
          </a:xfrm>
          <a:prstGeom prst="roundRect">
            <a:avLst>
              <a:gd name="adj" fmla="val 11538"/>
            </a:avLst>
          </a:prstGeom>
          <a:solidFill>
            <a:srgbClr val="F3F5F8"/>
          </a:solidFill>
          <a:ln w="14288">
            <a:solidFill>
              <a:srgbClr val="7C8999"/>
            </a:solidFill>
            <a:prstDash val="solid"/>
          </a:ln>
        </p:spPr>
      </p:sp>
      <p:sp>
        <p:nvSpPr>
          <p:cNvPr id="12" name="photos-title">
            <a:extLst>
              <a:ext uri="{FF2B5EF4-FFF2-40B4-BE49-F238E27FC236}">
                <a16:creationId xmlns:a16="http://schemas.microsoft.com/office/drawing/2014/main" id="{7E89E72F-01F1-4398-853F-446E0B8E73D3}"/>
              </a:ext>
            </a:extLst>
          </p:cNvPr>
          <p:cNvSpPr>
            <a:spLocks noGrp="1"/>
          </p:cNvSpPr>
          <p:nvPr/>
        </p:nvSpPr>
        <p:spPr>
          <a:xfrm>
            <a:off x="304800" y="1066800"/>
            <a:ext cx="914400" cy="2526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13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실내 사진</a:t>
            </a:r>
          </a:p>
        </p:txBody>
      </p:sp>
      <p:sp>
        <p:nvSpPr>
          <p:cNvPr id="13" name="photos-body">
            <a:extLst>
              <a:ext uri="{FF2B5EF4-FFF2-40B4-BE49-F238E27FC236}">
                <a16:creationId xmlns:a16="http://schemas.microsoft.com/office/drawing/2014/main" id="{B4B7391A-4BFE-4D20-B8F6-C8AE5037542B}"/>
              </a:ext>
            </a:extLst>
          </p:cNvPr>
          <p:cNvSpPr>
            <a:spLocks noGrp="1"/>
          </p:cNvSpPr>
          <p:nvPr/>
        </p:nvSpPr>
        <p:spPr>
          <a:xfrm>
            <a:off x="314325" y="1290828"/>
            <a:ext cx="895350" cy="3855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6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 dirty="0" err="1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복도</a:t>
            </a:r>
            <a:r>
              <a:rPr sz="765" b="0" dirty="0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65" b="0" dirty="0" err="1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다중시점</a:t>
            </a:r>
            <a:endParaRPr sz="765" b="0" dirty="0">
              <a:solidFill>
                <a:srgbClr val="60708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4" name="colmap-box">
            <a:extLst>
              <a:ext uri="{FF2B5EF4-FFF2-40B4-BE49-F238E27FC236}">
                <a16:creationId xmlns:a16="http://schemas.microsoft.com/office/drawing/2014/main" id="{49816B41-D78F-4F49-B813-140F4F7F2063}"/>
              </a:ext>
            </a:extLst>
          </p:cNvPr>
          <p:cNvSpPr>
            <a:spLocks noGrp="1"/>
          </p:cNvSpPr>
          <p:nvPr/>
        </p:nvSpPr>
        <p:spPr>
          <a:xfrm>
            <a:off x="1476375" y="1000125"/>
            <a:ext cx="1047750" cy="742950"/>
          </a:xfrm>
          <a:prstGeom prst="roundRect">
            <a:avLst>
              <a:gd name="adj" fmla="val 11538"/>
            </a:avLst>
          </a:prstGeom>
          <a:solidFill>
            <a:srgbClr val="E8F1FF"/>
          </a:solidFill>
          <a:ln w="14288">
            <a:solidFill>
              <a:srgbClr val="4E7FCF"/>
            </a:solidFill>
            <a:prstDash val="solid"/>
          </a:ln>
        </p:spPr>
      </p:sp>
      <p:sp>
        <p:nvSpPr>
          <p:cNvPr id="15" name="colmap-title">
            <a:extLst>
              <a:ext uri="{FF2B5EF4-FFF2-40B4-BE49-F238E27FC236}">
                <a16:creationId xmlns:a16="http://schemas.microsoft.com/office/drawing/2014/main" id="{206AD768-5225-4014-8FD8-098BC6F36A83}"/>
              </a:ext>
            </a:extLst>
          </p:cNvPr>
          <p:cNvSpPr>
            <a:spLocks noGrp="1"/>
          </p:cNvSpPr>
          <p:nvPr/>
        </p:nvSpPr>
        <p:spPr>
          <a:xfrm>
            <a:off x="1543050" y="1066800"/>
            <a:ext cx="914400" cy="2526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13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COLMAP</a:t>
            </a:r>
          </a:p>
        </p:txBody>
      </p:sp>
      <p:sp>
        <p:nvSpPr>
          <p:cNvPr id="16" name="colmap-body">
            <a:extLst>
              <a:ext uri="{FF2B5EF4-FFF2-40B4-BE49-F238E27FC236}">
                <a16:creationId xmlns:a16="http://schemas.microsoft.com/office/drawing/2014/main" id="{18F5D866-E129-479A-ADBA-50B33EBD17B7}"/>
              </a:ext>
            </a:extLst>
          </p:cNvPr>
          <p:cNvSpPr>
            <a:spLocks noGrp="1"/>
          </p:cNvSpPr>
          <p:nvPr/>
        </p:nvSpPr>
        <p:spPr>
          <a:xfrm>
            <a:off x="1552575" y="1290828"/>
            <a:ext cx="895350" cy="3855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6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카메라 자세</a:t>
            </a:r>
          </a:p>
          <a:p>
            <a:pPr algn="ctr">
              <a:defRPr sz="76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희소 점군</a:t>
            </a:r>
          </a:p>
        </p:txBody>
      </p:sp>
      <p:sp>
        <p:nvSpPr>
          <p:cNvPr id="17" name="pgsr-box">
            <a:extLst>
              <a:ext uri="{FF2B5EF4-FFF2-40B4-BE49-F238E27FC236}">
                <a16:creationId xmlns:a16="http://schemas.microsoft.com/office/drawing/2014/main" id="{8E5100F8-058D-46F5-AF9C-7B11F2CFE982}"/>
              </a:ext>
            </a:extLst>
          </p:cNvPr>
          <p:cNvSpPr>
            <a:spLocks noGrp="1"/>
          </p:cNvSpPr>
          <p:nvPr/>
        </p:nvSpPr>
        <p:spPr>
          <a:xfrm>
            <a:off x="2714625" y="1000125"/>
            <a:ext cx="1047750" cy="742950"/>
          </a:xfrm>
          <a:prstGeom prst="roundRect">
            <a:avLst>
              <a:gd name="adj" fmla="val 11538"/>
            </a:avLst>
          </a:prstGeom>
          <a:solidFill>
            <a:srgbClr val="E8F1FF"/>
          </a:solidFill>
          <a:ln w="14288">
            <a:solidFill>
              <a:srgbClr val="4E7FCF"/>
            </a:solidFill>
            <a:prstDash val="solid"/>
          </a:ln>
        </p:spPr>
      </p:sp>
      <p:sp>
        <p:nvSpPr>
          <p:cNvPr id="18" name="pgsr-title">
            <a:extLst>
              <a:ext uri="{FF2B5EF4-FFF2-40B4-BE49-F238E27FC236}">
                <a16:creationId xmlns:a16="http://schemas.microsoft.com/office/drawing/2014/main" id="{86BE1DE8-5735-45E6-AB8C-A5943BBC3EEE}"/>
              </a:ext>
            </a:extLst>
          </p:cNvPr>
          <p:cNvSpPr>
            <a:spLocks noGrp="1"/>
          </p:cNvSpPr>
          <p:nvPr/>
        </p:nvSpPr>
        <p:spPr>
          <a:xfrm>
            <a:off x="2781300" y="1066800"/>
            <a:ext cx="914400" cy="2526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13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PGSR 학습</a:t>
            </a:r>
          </a:p>
        </p:txBody>
      </p:sp>
      <p:sp>
        <p:nvSpPr>
          <p:cNvPr id="19" name="pgsr-body">
            <a:extLst>
              <a:ext uri="{FF2B5EF4-FFF2-40B4-BE49-F238E27FC236}">
                <a16:creationId xmlns:a16="http://schemas.microsoft.com/office/drawing/2014/main" id="{538D0998-C28B-4D9F-A7E4-4193FA74283B}"/>
              </a:ext>
            </a:extLst>
          </p:cNvPr>
          <p:cNvSpPr>
            <a:spLocks noGrp="1"/>
          </p:cNvSpPr>
          <p:nvPr/>
        </p:nvSpPr>
        <p:spPr>
          <a:xfrm>
            <a:off x="2790825" y="1290828"/>
            <a:ext cx="895350" cy="3855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6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00" b="0" dirty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Gaussian + </a:t>
            </a:r>
            <a:r>
              <a:rPr sz="700" b="0" dirty="0" err="1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표면</a:t>
            </a:r>
            <a:endParaRPr sz="700" b="0" dirty="0">
              <a:solidFill>
                <a:srgbClr val="60708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0" name="gaussian-box">
            <a:extLst>
              <a:ext uri="{FF2B5EF4-FFF2-40B4-BE49-F238E27FC236}">
                <a16:creationId xmlns:a16="http://schemas.microsoft.com/office/drawing/2014/main" id="{9BE1A286-6637-465A-BD64-AA455B4DCE46}"/>
              </a:ext>
            </a:extLst>
          </p:cNvPr>
          <p:cNvSpPr>
            <a:spLocks noGrp="1"/>
          </p:cNvSpPr>
          <p:nvPr/>
        </p:nvSpPr>
        <p:spPr>
          <a:xfrm>
            <a:off x="4048125" y="781050"/>
            <a:ext cx="1143000" cy="628650"/>
          </a:xfrm>
          <a:prstGeom prst="roundRect">
            <a:avLst>
              <a:gd name="adj" fmla="val 13636"/>
            </a:avLst>
          </a:prstGeom>
          <a:solidFill>
            <a:srgbClr val="E8F1FF"/>
          </a:solidFill>
          <a:ln w="14288">
            <a:solidFill>
              <a:srgbClr val="4E7FCF"/>
            </a:solidFill>
            <a:prstDash val="solid"/>
          </a:ln>
        </p:spPr>
      </p:sp>
      <p:sp>
        <p:nvSpPr>
          <p:cNvPr id="21" name="gaussian-title">
            <a:extLst>
              <a:ext uri="{FF2B5EF4-FFF2-40B4-BE49-F238E27FC236}">
                <a16:creationId xmlns:a16="http://schemas.microsoft.com/office/drawing/2014/main" id="{EBE09A8C-A06C-4486-A6EB-398E13BFFDE7}"/>
              </a:ext>
            </a:extLst>
          </p:cNvPr>
          <p:cNvSpPr>
            <a:spLocks noGrp="1"/>
          </p:cNvSpPr>
          <p:nvPr/>
        </p:nvSpPr>
        <p:spPr>
          <a:xfrm>
            <a:off x="4114800" y="847725"/>
            <a:ext cx="1009650" cy="2137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290"/>
          </a:bodyPr>
          <a:lstStyle/>
          <a:p>
            <a:pPr algn="ctr">
              <a:defRPr sz="93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3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Gaussian Scene</a:t>
            </a:r>
          </a:p>
        </p:txBody>
      </p:sp>
      <p:sp>
        <p:nvSpPr>
          <p:cNvPr id="22" name="gaussian-body">
            <a:extLst>
              <a:ext uri="{FF2B5EF4-FFF2-40B4-BE49-F238E27FC236}">
                <a16:creationId xmlns:a16="http://schemas.microsoft.com/office/drawing/2014/main" id="{BDA2342B-B9C0-42A1-9FCC-02B98647DB97}"/>
              </a:ext>
            </a:extLst>
          </p:cNvPr>
          <p:cNvSpPr>
            <a:spLocks noGrp="1"/>
          </p:cNvSpPr>
          <p:nvPr/>
        </p:nvSpPr>
        <p:spPr>
          <a:xfrm>
            <a:off x="4124325" y="1032891"/>
            <a:ext cx="990600" cy="31013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실시간 시각 표현</a:t>
            </a:r>
          </a:p>
        </p:txBody>
      </p:sp>
      <p:sp>
        <p:nvSpPr>
          <p:cNvPr id="23" name="mesh-box">
            <a:extLst>
              <a:ext uri="{FF2B5EF4-FFF2-40B4-BE49-F238E27FC236}">
                <a16:creationId xmlns:a16="http://schemas.microsoft.com/office/drawing/2014/main" id="{88C5D08B-4A67-4BF7-AC5E-1AFB85A9FE8E}"/>
              </a:ext>
            </a:extLst>
          </p:cNvPr>
          <p:cNvSpPr>
            <a:spLocks noGrp="1"/>
          </p:cNvSpPr>
          <p:nvPr/>
        </p:nvSpPr>
        <p:spPr>
          <a:xfrm>
            <a:off x="4048125" y="1581150"/>
            <a:ext cx="1143000" cy="628650"/>
          </a:xfrm>
          <a:prstGeom prst="roundRect">
            <a:avLst>
              <a:gd name="adj" fmla="val 13636"/>
            </a:avLst>
          </a:prstGeom>
          <a:solidFill>
            <a:srgbClr val="E8F1FF"/>
          </a:solidFill>
          <a:ln w="14288">
            <a:solidFill>
              <a:srgbClr val="4E7FCF"/>
            </a:solidFill>
            <a:prstDash val="solid"/>
          </a:ln>
        </p:spPr>
      </p:sp>
      <p:sp>
        <p:nvSpPr>
          <p:cNvPr id="24" name="mesh-title">
            <a:extLst>
              <a:ext uri="{FF2B5EF4-FFF2-40B4-BE49-F238E27FC236}">
                <a16:creationId xmlns:a16="http://schemas.microsoft.com/office/drawing/2014/main" id="{1DB294F9-0CFE-48BC-A397-8E96315E0578}"/>
              </a:ext>
            </a:extLst>
          </p:cNvPr>
          <p:cNvSpPr>
            <a:spLocks noGrp="1"/>
          </p:cNvSpPr>
          <p:nvPr/>
        </p:nvSpPr>
        <p:spPr>
          <a:xfrm>
            <a:off x="4114800" y="1647825"/>
            <a:ext cx="1009650" cy="2137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6290"/>
          </a:bodyPr>
          <a:lstStyle/>
          <a:p>
            <a:pPr algn="ctr">
              <a:defRPr sz="93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3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Surface Mesh</a:t>
            </a:r>
          </a:p>
        </p:txBody>
      </p:sp>
      <p:sp>
        <p:nvSpPr>
          <p:cNvPr id="25" name="mesh-body">
            <a:extLst>
              <a:ext uri="{FF2B5EF4-FFF2-40B4-BE49-F238E27FC236}">
                <a16:creationId xmlns:a16="http://schemas.microsoft.com/office/drawing/2014/main" id="{258C6852-83A2-48F9-9803-9666A5F1A912}"/>
              </a:ext>
            </a:extLst>
          </p:cNvPr>
          <p:cNvSpPr>
            <a:spLocks noGrp="1"/>
          </p:cNvSpPr>
          <p:nvPr/>
        </p:nvSpPr>
        <p:spPr>
          <a:xfrm>
            <a:off x="4124325" y="1832991"/>
            <a:ext cx="990600" cy="31013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 dirty="0" err="1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표면</a:t>
            </a:r>
            <a:r>
              <a:rPr lang="en-US" sz="735" b="0" dirty="0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735" b="0" dirty="0" err="1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평면</a:t>
            </a:r>
            <a:r>
              <a:rPr sz="735" b="0" dirty="0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35" b="0" dirty="0" err="1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후보</a:t>
            </a:r>
            <a:endParaRPr sz="735" b="0" dirty="0">
              <a:solidFill>
                <a:srgbClr val="60708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6" name="metric-box">
            <a:extLst>
              <a:ext uri="{FF2B5EF4-FFF2-40B4-BE49-F238E27FC236}">
                <a16:creationId xmlns:a16="http://schemas.microsoft.com/office/drawing/2014/main" id="{1BDD382E-2D69-415F-9B08-8DC96729A0AE}"/>
              </a:ext>
            </a:extLst>
          </p:cNvPr>
          <p:cNvSpPr>
            <a:spLocks noGrp="1"/>
          </p:cNvSpPr>
          <p:nvPr/>
        </p:nvSpPr>
        <p:spPr>
          <a:xfrm>
            <a:off x="5476875" y="1076325"/>
            <a:ext cx="1428750" cy="1009650"/>
          </a:xfrm>
          <a:prstGeom prst="roundRect">
            <a:avLst>
              <a:gd name="adj" fmla="val 8491"/>
            </a:avLst>
          </a:prstGeom>
          <a:solidFill>
            <a:srgbClr val="E8F1FF"/>
          </a:solidFill>
          <a:ln w="14288">
            <a:solidFill>
              <a:srgbClr val="4E7FCF"/>
            </a:solidFill>
            <a:prstDash val="solid"/>
          </a:ln>
        </p:spPr>
      </p:sp>
      <p:sp>
        <p:nvSpPr>
          <p:cNvPr id="27" name="metric-title">
            <a:extLst>
              <a:ext uri="{FF2B5EF4-FFF2-40B4-BE49-F238E27FC236}">
                <a16:creationId xmlns:a16="http://schemas.microsoft.com/office/drawing/2014/main" id="{164F9EE7-0909-4919-9893-BF78820C7198}"/>
              </a:ext>
            </a:extLst>
          </p:cNvPr>
          <p:cNvSpPr>
            <a:spLocks noGrp="1"/>
          </p:cNvSpPr>
          <p:nvPr/>
        </p:nvSpPr>
        <p:spPr>
          <a:xfrm>
            <a:off x="5543550" y="1143000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13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미터 좌표 정합</a:t>
            </a:r>
          </a:p>
        </p:txBody>
      </p:sp>
      <p:sp>
        <p:nvSpPr>
          <p:cNvPr id="28" name="metric-body">
            <a:extLst>
              <a:ext uri="{FF2B5EF4-FFF2-40B4-BE49-F238E27FC236}">
                <a16:creationId xmlns:a16="http://schemas.microsoft.com/office/drawing/2014/main" id="{95C89404-E16D-480B-BD0D-3EE6C8424878}"/>
              </a:ext>
            </a:extLst>
          </p:cNvPr>
          <p:cNvSpPr>
            <a:spLocks noGrp="1"/>
          </p:cNvSpPr>
          <p:nvPr/>
        </p:nvSpPr>
        <p:spPr>
          <a:xfrm>
            <a:off x="5553075" y="1400175"/>
            <a:ext cx="12763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6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 dirty="0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Scale</a:t>
            </a:r>
            <a:r>
              <a:rPr lang="en-US" sz="765" b="0" dirty="0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765" b="0" dirty="0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축</a:t>
            </a:r>
            <a:r>
              <a:rPr lang="en-US" sz="765" b="0" dirty="0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765" b="0" dirty="0" err="1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원점</a:t>
            </a:r>
            <a:endParaRPr sz="765" b="0" dirty="0">
              <a:solidFill>
                <a:srgbClr val="607087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defRPr sz="76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 dirty="0" err="1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닫힌</a:t>
            </a:r>
            <a:r>
              <a:rPr sz="765" b="0" dirty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 Proxy Scene</a:t>
            </a:r>
          </a:p>
          <a:p>
            <a:pPr algn="ctr">
              <a:defRPr sz="76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 dirty="0" err="1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재질</a:t>
            </a:r>
            <a:r>
              <a:rPr lang="en-US" sz="765" dirty="0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765" b="0" dirty="0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TX/RX </a:t>
            </a:r>
            <a:r>
              <a:rPr sz="765" b="0" dirty="0" err="1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배치</a:t>
            </a:r>
            <a:endParaRPr sz="765" b="0" dirty="0">
              <a:solidFill>
                <a:srgbClr val="60708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9" name="sionna-box">
            <a:extLst>
              <a:ext uri="{FF2B5EF4-FFF2-40B4-BE49-F238E27FC236}">
                <a16:creationId xmlns:a16="http://schemas.microsoft.com/office/drawing/2014/main" id="{BC8CA368-D4F0-4961-B154-1E78B5058636}"/>
              </a:ext>
            </a:extLst>
          </p:cNvPr>
          <p:cNvSpPr>
            <a:spLocks noGrp="1"/>
          </p:cNvSpPr>
          <p:nvPr/>
        </p:nvSpPr>
        <p:spPr>
          <a:xfrm>
            <a:off x="7286625" y="1076325"/>
            <a:ext cx="1476375" cy="1009650"/>
          </a:xfrm>
          <a:prstGeom prst="roundRect">
            <a:avLst>
              <a:gd name="adj" fmla="val 8491"/>
            </a:avLst>
          </a:prstGeom>
          <a:solidFill>
            <a:srgbClr val="F2EAF8"/>
          </a:solidFill>
          <a:ln w="14288">
            <a:solidFill>
              <a:srgbClr val="8B63A8"/>
            </a:solidFill>
            <a:prstDash val="solid"/>
          </a:ln>
        </p:spPr>
      </p:sp>
      <p:sp>
        <p:nvSpPr>
          <p:cNvPr id="30" name="sionna-title">
            <a:extLst>
              <a:ext uri="{FF2B5EF4-FFF2-40B4-BE49-F238E27FC236}">
                <a16:creationId xmlns:a16="http://schemas.microsoft.com/office/drawing/2014/main" id="{5F92B621-D5EB-4C52-80C2-2B5979DA0E33}"/>
              </a:ext>
            </a:extLst>
          </p:cNvPr>
          <p:cNvSpPr>
            <a:spLocks noGrp="1"/>
          </p:cNvSpPr>
          <p:nvPr/>
        </p:nvSpPr>
        <p:spPr>
          <a:xfrm>
            <a:off x="7353300" y="1143000"/>
            <a:ext cx="13430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13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Sionna RT</a:t>
            </a:r>
          </a:p>
        </p:txBody>
      </p:sp>
      <p:sp>
        <p:nvSpPr>
          <p:cNvPr id="31" name="sionna-body">
            <a:extLst>
              <a:ext uri="{FF2B5EF4-FFF2-40B4-BE49-F238E27FC236}">
                <a16:creationId xmlns:a16="http://schemas.microsoft.com/office/drawing/2014/main" id="{D1FDDE8E-1EC0-44DA-9CEE-C88DF87EC280}"/>
              </a:ext>
            </a:extLst>
          </p:cNvPr>
          <p:cNvSpPr>
            <a:spLocks noGrp="1"/>
          </p:cNvSpPr>
          <p:nvPr/>
        </p:nvSpPr>
        <p:spPr>
          <a:xfrm>
            <a:off x="7362825" y="1400175"/>
            <a:ext cx="13239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6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 dirty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2.437 GHz (Ch. 6)</a:t>
            </a:r>
          </a:p>
          <a:p>
            <a:pPr algn="ctr">
              <a:defRPr sz="76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 dirty="0" err="1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LoS</a:t>
            </a:r>
            <a:r>
              <a:rPr sz="765" b="0" dirty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sz="765" dirty="0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765" b="0" dirty="0" err="1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반사</a:t>
            </a:r>
            <a:r>
              <a:rPr lang="en-US" sz="765" dirty="0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765" b="0" dirty="0" err="1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회절</a:t>
            </a:r>
            <a:r>
              <a:rPr lang="en-US" sz="765" dirty="0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765" b="0" dirty="0" err="1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산란</a:t>
            </a:r>
            <a:endParaRPr sz="765" b="0" dirty="0">
              <a:solidFill>
                <a:srgbClr val="607087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defRPr sz="76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 dirty="0" err="1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max_depth</a:t>
            </a:r>
            <a:r>
              <a:rPr sz="765" b="0" dirty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 = 12</a:t>
            </a:r>
          </a:p>
        </p:txBody>
      </p:sp>
      <p:sp>
        <p:nvSpPr>
          <p:cNvPr id="32" name="point-prediction-box">
            <a:extLst>
              <a:ext uri="{FF2B5EF4-FFF2-40B4-BE49-F238E27FC236}">
                <a16:creationId xmlns:a16="http://schemas.microsoft.com/office/drawing/2014/main" id="{8CC291D8-4B87-48D9-836C-2F5985AA74B3}"/>
              </a:ext>
            </a:extLst>
          </p:cNvPr>
          <p:cNvSpPr>
            <a:spLocks noGrp="1"/>
          </p:cNvSpPr>
          <p:nvPr/>
        </p:nvSpPr>
        <p:spPr>
          <a:xfrm>
            <a:off x="9144000" y="742950"/>
            <a:ext cx="1381125" cy="781050"/>
          </a:xfrm>
          <a:prstGeom prst="roundRect">
            <a:avLst>
              <a:gd name="adj" fmla="val 10976"/>
            </a:avLst>
          </a:prstGeom>
          <a:solidFill>
            <a:srgbClr val="F2EAF8"/>
          </a:solidFill>
          <a:ln w="14288">
            <a:solidFill>
              <a:srgbClr val="8B63A8"/>
            </a:solidFill>
            <a:prstDash val="solid"/>
          </a:ln>
        </p:spPr>
      </p:sp>
      <p:sp>
        <p:nvSpPr>
          <p:cNvPr id="33" name="point-prediction-title">
            <a:extLst>
              <a:ext uri="{FF2B5EF4-FFF2-40B4-BE49-F238E27FC236}">
                <a16:creationId xmlns:a16="http://schemas.microsoft.com/office/drawing/2014/main" id="{CB951B09-77B2-4F52-8613-3C02C6FC7795}"/>
              </a:ext>
            </a:extLst>
          </p:cNvPr>
          <p:cNvSpPr>
            <a:spLocks noGrp="1"/>
          </p:cNvSpPr>
          <p:nvPr/>
        </p:nvSpPr>
        <p:spPr>
          <a:xfrm>
            <a:off x="9210675" y="809625"/>
            <a:ext cx="1247775" cy="2655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13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지점 예측</a:t>
            </a:r>
          </a:p>
        </p:txBody>
      </p:sp>
      <p:sp>
        <p:nvSpPr>
          <p:cNvPr id="34" name="point-prediction-body">
            <a:extLst>
              <a:ext uri="{FF2B5EF4-FFF2-40B4-BE49-F238E27FC236}">
                <a16:creationId xmlns:a16="http://schemas.microsoft.com/office/drawing/2014/main" id="{7C4D8E96-154D-45FB-8631-F63BF1B1F41F}"/>
              </a:ext>
            </a:extLst>
          </p:cNvPr>
          <p:cNvSpPr>
            <a:spLocks noGrp="1"/>
          </p:cNvSpPr>
          <p:nvPr/>
        </p:nvSpPr>
        <p:spPr>
          <a:xfrm>
            <a:off x="9220200" y="1046607"/>
            <a:ext cx="1228725" cy="4107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6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보정·시험 위치</a:t>
            </a:r>
          </a:p>
          <a:p>
            <a:pPr algn="ctr">
              <a:defRPr sz="76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R_S(x_i), R_S(x_t)</a:t>
            </a:r>
          </a:p>
        </p:txBody>
      </p:sp>
      <p:sp>
        <p:nvSpPr>
          <p:cNvPr id="35" name="grid-prediction-box">
            <a:extLst>
              <a:ext uri="{FF2B5EF4-FFF2-40B4-BE49-F238E27FC236}">
                <a16:creationId xmlns:a16="http://schemas.microsoft.com/office/drawing/2014/main" id="{F08EED69-409F-41B4-BA6E-ACF02AEAAE13}"/>
              </a:ext>
            </a:extLst>
          </p:cNvPr>
          <p:cNvSpPr>
            <a:spLocks noGrp="1"/>
          </p:cNvSpPr>
          <p:nvPr/>
        </p:nvSpPr>
        <p:spPr>
          <a:xfrm>
            <a:off x="9144000" y="1752600"/>
            <a:ext cx="1381125" cy="781050"/>
          </a:xfrm>
          <a:prstGeom prst="roundRect">
            <a:avLst>
              <a:gd name="adj" fmla="val 10976"/>
            </a:avLst>
          </a:prstGeom>
          <a:solidFill>
            <a:srgbClr val="F2EAF8"/>
          </a:solidFill>
          <a:ln w="14288">
            <a:solidFill>
              <a:srgbClr val="8B63A8"/>
            </a:solidFill>
            <a:prstDash val="solid"/>
          </a:ln>
        </p:spPr>
      </p:sp>
      <p:sp>
        <p:nvSpPr>
          <p:cNvPr id="36" name="grid-prediction-title">
            <a:extLst>
              <a:ext uri="{FF2B5EF4-FFF2-40B4-BE49-F238E27FC236}">
                <a16:creationId xmlns:a16="http://schemas.microsoft.com/office/drawing/2014/main" id="{903527CB-39AB-433D-9B95-5CD439F1BDCF}"/>
              </a:ext>
            </a:extLst>
          </p:cNvPr>
          <p:cNvSpPr>
            <a:spLocks noGrp="1"/>
          </p:cNvSpPr>
          <p:nvPr/>
        </p:nvSpPr>
        <p:spPr>
          <a:xfrm>
            <a:off x="9210675" y="1819275"/>
            <a:ext cx="1247775" cy="26555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1013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격자 예측</a:t>
            </a:r>
          </a:p>
        </p:txBody>
      </p:sp>
      <p:sp>
        <p:nvSpPr>
          <p:cNvPr id="37" name="grid-prediction-body">
            <a:extLst>
              <a:ext uri="{FF2B5EF4-FFF2-40B4-BE49-F238E27FC236}">
                <a16:creationId xmlns:a16="http://schemas.microsoft.com/office/drawing/2014/main" id="{9BA4955E-1BAD-4634-81C0-F95C1B3FBDFB}"/>
              </a:ext>
            </a:extLst>
          </p:cNvPr>
          <p:cNvSpPr>
            <a:spLocks noGrp="1"/>
          </p:cNvSpPr>
          <p:nvPr/>
        </p:nvSpPr>
        <p:spPr>
          <a:xfrm>
            <a:off x="9220200" y="2056257"/>
            <a:ext cx="1228725" cy="4107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6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여러 높이의</a:t>
            </a:r>
          </a:p>
          <a:p>
            <a:pPr algn="ctr">
              <a:defRPr sz="76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6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Raw Sionna grid</a:t>
            </a:r>
          </a:p>
        </p:txBody>
      </p:sp>
      <p:cxnSp>
        <p:nvCxnSpPr>
          <p:cNvPr id="161" name="직선 화살표 연결선 160"/>
          <p:cNvCxnSpPr>
            <a:stCxn id="11" idx="3"/>
            <a:endCxn id="14" idx="1"/>
          </p:cNvCxnSpPr>
          <p:nvPr/>
        </p:nvCxnSpPr>
        <p:spPr>
          <a:xfrm>
            <a:off x="1285875" y="1371600"/>
            <a:ext cx="190500" cy="0"/>
          </a:xfrm>
          <a:prstGeom prst="straightConnector1">
            <a:avLst/>
          </a:prstGeom>
          <a:ln w="14764">
            <a:solidFill>
              <a:srgbClr val="40536B"/>
            </a:solidFill>
            <a:prstDash val="solid"/>
            <a:tailEnd type="triangle" w="sm" len="sm"/>
          </a:ln>
        </p:spPr>
      </p:cxnSp>
      <p:cxnSp>
        <p:nvCxnSpPr>
          <p:cNvPr id="162" name="직선 화살표 연결선 161"/>
          <p:cNvCxnSpPr>
            <a:stCxn id="14" idx="3"/>
            <a:endCxn id="17" idx="1"/>
          </p:cNvCxnSpPr>
          <p:nvPr/>
        </p:nvCxnSpPr>
        <p:spPr>
          <a:xfrm>
            <a:off x="2524125" y="1371600"/>
            <a:ext cx="190500" cy="0"/>
          </a:xfrm>
          <a:prstGeom prst="straightConnector1">
            <a:avLst/>
          </a:prstGeom>
          <a:ln w="14764">
            <a:solidFill>
              <a:srgbClr val="40536B"/>
            </a:solidFill>
            <a:prstDash val="solid"/>
            <a:tailEnd type="triangle" w="sm" len="sm"/>
          </a:ln>
        </p:spPr>
      </p:cxnSp>
      <p:cxnSp>
        <p:nvCxnSpPr>
          <p:cNvPr id="163" name="꺾인 연결선 162"/>
          <p:cNvCxnSpPr>
            <a:stCxn id="17" idx="3"/>
            <a:endCxn id="20" idx="1"/>
          </p:cNvCxnSpPr>
          <p:nvPr/>
        </p:nvCxnSpPr>
        <p:spPr>
          <a:xfrm flipV="1">
            <a:off x="3762375" y="1095375"/>
            <a:ext cx="285750" cy="276225"/>
          </a:xfrm>
          <a:prstGeom prst="bentConnector3">
            <a:avLst>
              <a:gd name="adj1" fmla="val 50000"/>
            </a:avLst>
          </a:prstGeom>
          <a:ln w="14764">
            <a:solidFill>
              <a:srgbClr val="40536B"/>
            </a:solidFill>
            <a:prstDash val="solid"/>
            <a:tailEnd type="triangle" w="sm" len="sm"/>
          </a:ln>
        </p:spPr>
      </p:cxnSp>
      <p:cxnSp>
        <p:nvCxnSpPr>
          <p:cNvPr id="164" name="꺾인 연결선 163"/>
          <p:cNvCxnSpPr>
            <a:stCxn id="17" idx="3"/>
            <a:endCxn id="23" idx="1"/>
          </p:cNvCxnSpPr>
          <p:nvPr/>
        </p:nvCxnSpPr>
        <p:spPr>
          <a:xfrm>
            <a:off x="3762375" y="1371600"/>
            <a:ext cx="285750" cy="523875"/>
          </a:xfrm>
          <a:prstGeom prst="bentConnector3">
            <a:avLst>
              <a:gd name="adj1" fmla="val 50000"/>
            </a:avLst>
          </a:prstGeom>
          <a:ln w="14764">
            <a:solidFill>
              <a:srgbClr val="40536B"/>
            </a:solidFill>
            <a:prstDash val="solid"/>
            <a:tailEnd type="triangle" w="sm" len="sm"/>
          </a:ln>
        </p:spPr>
      </p:cxnSp>
      <p:cxnSp>
        <p:nvCxnSpPr>
          <p:cNvPr id="165" name="꺾인 연결선 164"/>
          <p:cNvCxnSpPr>
            <a:stCxn id="20" idx="3"/>
          </p:cNvCxnSpPr>
          <p:nvPr/>
        </p:nvCxnSpPr>
        <p:spPr>
          <a:xfrm>
            <a:off x="5191125" y="1095375"/>
            <a:ext cx="285750" cy="257175"/>
          </a:xfrm>
          <a:prstGeom prst="bentConnector3">
            <a:avLst>
              <a:gd name="adj1" fmla="val 50000"/>
            </a:avLst>
          </a:prstGeom>
          <a:ln w="14764">
            <a:solidFill>
              <a:srgbClr val="40536B"/>
            </a:solidFill>
            <a:prstDash val="solid"/>
            <a:tailEnd type="triangle" w="sm" len="sm"/>
          </a:ln>
        </p:spPr>
      </p:cxnSp>
      <p:cxnSp>
        <p:nvCxnSpPr>
          <p:cNvPr id="166" name="직선 화살표 연결선 165"/>
          <p:cNvCxnSpPr>
            <a:stCxn id="23" idx="3"/>
            <a:endCxn id="26" idx="1"/>
          </p:cNvCxnSpPr>
          <p:nvPr/>
        </p:nvCxnSpPr>
        <p:spPr>
          <a:xfrm flipV="1">
            <a:off x="5191125" y="1581150"/>
            <a:ext cx="285750" cy="314325"/>
          </a:xfrm>
          <a:prstGeom prst="straightConnector1">
            <a:avLst/>
          </a:prstGeom>
          <a:ln w="14764">
            <a:solidFill>
              <a:srgbClr val="40536B"/>
            </a:solidFill>
            <a:prstDash val="solid"/>
            <a:tailEnd type="triangle" w="sm" len="sm"/>
          </a:ln>
        </p:spPr>
      </p:cxnSp>
      <p:cxnSp>
        <p:nvCxnSpPr>
          <p:cNvPr id="167" name="직선 화살표 연결선 166"/>
          <p:cNvCxnSpPr>
            <a:stCxn id="26" idx="3"/>
            <a:endCxn id="29" idx="1"/>
          </p:cNvCxnSpPr>
          <p:nvPr/>
        </p:nvCxnSpPr>
        <p:spPr>
          <a:xfrm>
            <a:off x="6905625" y="1581150"/>
            <a:ext cx="381000" cy="0"/>
          </a:xfrm>
          <a:prstGeom prst="straightConnector1">
            <a:avLst/>
          </a:prstGeom>
          <a:ln w="14764">
            <a:solidFill>
              <a:srgbClr val="40536B"/>
            </a:solidFill>
            <a:prstDash val="solid"/>
            <a:tailEnd type="triangle" w="sm" len="sm"/>
          </a:ln>
        </p:spPr>
      </p:cxnSp>
      <p:cxnSp>
        <p:nvCxnSpPr>
          <p:cNvPr id="168" name="꺾인 연결선 167"/>
          <p:cNvCxnSpPr>
            <a:stCxn id="29" idx="3"/>
            <a:endCxn id="32" idx="1"/>
          </p:cNvCxnSpPr>
          <p:nvPr/>
        </p:nvCxnSpPr>
        <p:spPr>
          <a:xfrm flipV="1">
            <a:off x="8763000" y="1133475"/>
            <a:ext cx="381000" cy="447675"/>
          </a:xfrm>
          <a:prstGeom prst="bentConnector3">
            <a:avLst>
              <a:gd name="adj1" fmla="val 50000"/>
            </a:avLst>
          </a:prstGeom>
          <a:ln w="14764">
            <a:solidFill>
              <a:srgbClr val="40536B"/>
            </a:solidFill>
            <a:prstDash val="solid"/>
            <a:tailEnd type="triangle" w="sm" len="sm"/>
          </a:ln>
        </p:spPr>
      </p:cxnSp>
      <p:cxnSp>
        <p:nvCxnSpPr>
          <p:cNvPr id="169" name="꺾인 연결선 168"/>
          <p:cNvCxnSpPr>
            <a:stCxn id="29" idx="3"/>
            <a:endCxn id="35" idx="1"/>
          </p:cNvCxnSpPr>
          <p:nvPr/>
        </p:nvCxnSpPr>
        <p:spPr>
          <a:xfrm>
            <a:off x="8763000" y="1581150"/>
            <a:ext cx="381000" cy="561975"/>
          </a:xfrm>
          <a:prstGeom prst="bentConnector3">
            <a:avLst>
              <a:gd name="adj1" fmla="val 50000"/>
            </a:avLst>
          </a:prstGeom>
          <a:ln w="14764">
            <a:solidFill>
              <a:srgbClr val="40536B"/>
            </a:solidFill>
            <a:prstDash val="solid"/>
            <a:tailEnd type="triangle" w="sm" len="sm"/>
          </a:ln>
        </p:spPr>
      </p:cxnSp>
      <p:sp>
        <p:nvSpPr>
          <p:cNvPr id="47" name="esp32-box">
            <a:extLst>
              <a:ext uri="{FF2B5EF4-FFF2-40B4-BE49-F238E27FC236}">
                <a16:creationId xmlns:a16="http://schemas.microsoft.com/office/drawing/2014/main" id="{7C7921FE-3C11-4079-B323-9A8FBA86FA84}"/>
              </a:ext>
            </a:extLst>
          </p:cNvPr>
          <p:cNvSpPr>
            <a:spLocks noGrp="1"/>
          </p:cNvSpPr>
          <p:nvPr/>
        </p:nvSpPr>
        <p:spPr>
          <a:xfrm>
            <a:off x="238125" y="3524250"/>
            <a:ext cx="1190625" cy="971550"/>
          </a:xfrm>
          <a:prstGeom prst="roundRect">
            <a:avLst>
              <a:gd name="adj" fmla="val 8824"/>
            </a:avLst>
          </a:prstGeom>
          <a:solidFill>
            <a:srgbClr val="EAF6E7"/>
          </a:solidFill>
          <a:ln w="14288">
            <a:solidFill>
              <a:srgbClr val="5D9C58"/>
            </a:solidFill>
            <a:prstDash val="solid"/>
          </a:ln>
        </p:spPr>
      </p:sp>
      <p:sp>
        <p:nvSpPr>
          <p:cNvPr id="48" name="esp32-title">
            <a:extLst>
              <a:ext uri="{FF2B5EF4-FFF2-40B4-BE49-F238E27FC236}">
                <a16:creationId xmlns:a16="http://schemas.microsoft.com/office/drawing/2014/main" id="{6CD3B682-38C1-461B-81D9-B45BB10EE710}"/>
              </a:ext>
            </a:extLst>
          </p:cNvPr>
          <p:cNvSpPr>
            <a:spLocks noGrp="1"/>
          </p:cNvSpPr>
          <p:nvPr/>
        </p:nvSpPr>
        <p:spPr>
          <a:xfrm>
            <a:off x="304800" y="3590925"/>
            <a:ext cx="1057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566"/>
          </a:bodyPr>
          <a:lstStyle/>
          <a:p>
            <a:pPr algn="ctr">
              <a:defRPr sz="953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53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ESP32 RSSI × 5</a:t>
            </a:r>
          </a:p>
        </p:txBody>
      </p:sp>
      <p:sp>
        <p:nvSpPr>
          <p:cNvPr id="49" name="esp32-body">
            <a:extLst>
              <a:ext uri="{FF2B5EF4-FFF2-40B4-BE49-F238E27FC236}">
                <a16:creationId xmlns:a16="http://schemas.microsoft.com/office/drawing/2014/main" id="{6FF0FC2B-CEA1-459F-907B-73939C1643D7}"/>
              </a:ext>
            </a:extLst>
          </p:cNvPr>
          <p:cNvSpPr>
            <a:spLocks noGrp="1"/>
          </p:cNvSpPr>
          <p:nvPr/>
        </p:nvSpPr>
        <p:spPr>
          <a:xfrm>
            <a:off x="314325" y="3848100"/>
            <a:ext cx="10382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00" b="0" dirty="0" err="1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원격</a:t>
            </a:r>
            <a:r>
              <a:rPr sz="700" b="0" dirty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00" b="0" dirty="0" err="1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노드</a:t>
            </a:r>
            <a:r>
              <a:rPr sz="700" b="0" dirty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 1–4</a:t>
            </a:r>
          </a:p>
          <a:p>
            <a:pPr algn="ctr">
              <a:def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00" b="0" dirty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Gateway </a:t>
            </a:r>
            <a:r>
              <a:rPr sz="700" b="0" dirty="0" err="1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로컬</a:t>
            </a:r>
            <a:r>
              <a:rPr sz="700" b="0" dirty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00" b="0" dirty="0" err="1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노드</a:t>
            </a:r>
            <a:r>
              <a:rPr sz="700" b="0" dirty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 5</a:t>
            </a:r>
          </a:p>
          <a:p>
            <a:pPr algn="ctr">
              <a:def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00" b="0" dirty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200 </a:t>
            </a:r>
            <a:r>
              <a:rPr sz="700" b="0" dirty="0" err="1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ms</a:t>
            </a:r>
            <a:r>
              <a:rPr sz="700" b="0" dirty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700" b="0" dirty="0" err="1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이동평균</a:t>
            </a:r>
            <a:r>
              <a:rPr sz="700" b="0" dirty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 5</a:t>
            </a:r>
          </a:p>
        </p:txBody>
      </p:sp>
      <p:sp>
        <p:nvSpPr>
          <p:cNvPr id="50" name="gateway-box">
            <a:extLst>
              <a:ext uri="{FF2B5EF4-FFF2-40B4-BE49-F238E27FC236}">
                <a16:creationId xmlns:a16="http://schemas.microsoft.com/office/drawing/2014/main" id="{C5E24545-8677-45D7-98A3-9E9A5EEECEC1}"/>
              </a:ext>
            </a:extLst>
          </p:cNvPr>
          <p:cNvSpPr>
            <a:spLocks noGrp="1"/>
          </p:cNvSpPr>
          <p:nvPr/>
        </p:nvSpPr>
        <p:spPr>
          <a:xfrm>
            <a:off x="1619250" y="3524250"/>
            <a:ext cx="1190625" cy="971550"/>
          </a:xfrm>
          <a:prstGeom prst="roundRect">
            <a:avLst>
              <a:gd name="adj" fmla="val 8824"/>
            </a:avLst>
          </a:prstGeom>
          <a:solidFill>
            <a:srgbClr val="EAF6E7"/>
          </a:solidFill>
          <a:ln w="14288">
            <a:solidFill>
              <a:srgbClr val="5D9C58"/>
            </a:solidFill>
            <a:prstDash val="solid"/>
          </a:ln>
        </p:spPr>
      </p:sp>
      <p:sp>
        <p:nvSpPr>
          <p:cNvPr id="51" name="gateway-title">
            <a:extLst>
              <a:ext uri="{FF2B5EF4-FFF2-40B4-BE49-F238E27FC236}">
                <a16:creationId xmlns:a16="http://schemas.microsoft.com/office/drawing/2014/main" id="{A1BE7FFE-B0CB-4AB8-A20F-710B532C5069}"/>
              </a:ext>
            </a:extLst>
          </p:cNvPr>
          <p:cNvSpPr>
            <a:spLocks noGrp="1"/>
          </p:cNvSpPr>
          <p:nvPr/>
        </p:nvSpPr>
        <p:spPr>
          <a:xfrm>
            <a:off x="1685925" y="3590925"/>
            <a:ext cx="1057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7538" lnSpcReduction="10000"/>
          </a:bodyPr>
          <a:lstStyle/>
          <a:p>
            <a:pPr algn="ctr">
              <a:defRPr sz="88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88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ESP-NOW Gateway</a:t>
            </a:r>
          </a:p>
        </p:txBody>
      </p:sp>
      <p:sp>
        <p:nvSpPr>
          <p:cNvPr id="52" name="gateway-body">
            <a:extLst>
              <a:ext uri="{FF2B5EF4-FFF2-40B4-BE49-F238E27FC236}">
                <a16:creationId xmlns:a16="http://schemas.microsoft.com/office/drawing/2014/main" id="{467A40FC-CB5E-4967-ACC9-39CD02DC4A16}"/>
              </a:ext>
            </a:extLst>
          </p:cNvPr>
          <p:cNvSpPr>
            <a:spLocks noGrp="1"/>
          </p:cNvSpPr>
          <p:nvPr/>
        </p:nvSpPr>
        <p:spPr>
          <a:xfrm>
            <a:off x="1695450" y="3848100"/>
            <a:ext cx="10382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 dirty="0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CRC</a:t>
            </a:r>
            <a:r>
              <a:rPr lang="en-US" sz="735" dirty="0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735" b="0" dirty="0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Sequence</a:t>
            </a:r>
            <a:endParaRPr sz="735" b="0" dirty="0">
              <a:solidFill>
                <a:srgbClr val="607087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def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 dirty="0" err="1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누락</a:t>
            </a:r>
            <a:r>
              <a:rPr lang="en-US" sz="735" dirty="0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735" b="0" dirty="0" err="1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중복</a:t>
            </a:r>
            <a:r>
              <a:rPr sz="735" b="0" dirty="0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35" b="0" dirty="0" err="1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집계</a:t>
            </a:r>
            <a:endParaRPr sz="735" b="0" dirty="0">
              <a:solidFill>
                <a:srgbClr val="60708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3" name="stm32-box">
            <a:extLst>
              <a:ext uri="{FF2B5EF4-FFF2-40B4-BE49-F238E27FC236}">
                <a16:creationId xmlns:a16="http://schemas.microsoft.com/office/drawing/2014/main" id="{E1C80914-5821-40C9-B9AD-9E02D92E927A}"/>
              </a:ext>
            </a:extLst>
          </p:cNvPr>
          <p:cNvSpPr>
            <a:spLocks noGrp="1"/>
          </p:cNvSpPr>
          <p:nvPr/>
        </p:nvSpPr>
        <p:spPr>
          <a:xfrm>
            <a:off x="3000375" y="3524250"/>
            <a:ext cx="1190625" cy="971550"/>
          </a:xfrm>
          <a:prstGeom prst="roundRect">
            <a:avLst>
              <a:gd name="adj" fmla="val 8824"/>
            </a:avLst>
          </a:prstGeom>
          <a:solidFill>
            <a:srgbClr val="EAF6E7"/>
          </a:solidFill>
          <a:ln w="14288">
            <a:solidFill>
              <a:srgbClr val="5D9C58"/>
            </a:solidFill>
            <a:prstDash val="solid"/>
          </a:ln>
        </p:spPr>
      </p:sp>
      <p:sp>
        <p:nvSpPr>
          <p:cNvPr id="54" name="stm32-title">
            <a:extLst>
              <a:ext uri="{FF2B5EF4-FFF2-40B4-BE49-F238E27FC236}">
                <a16:creationId xmlns:a16="http://schemas.microsoft.com/office/drawing/2014/main" id="{C5B23809-44FA-46FF-84A6-892CAE33B3AC}"/>
              </a:ext>
            </a:extLst>
          </p:cNvPr>
          <p:cNvSpPr>
            <a:spLocks noGrp="1"/>
          </p:cNvSpPr>
          <p:nvPr/>
        </p:nvSpPr>
        <p:spPr>
          <a:xfrm>
            <a:off x="3067050" y="3590925"/>
            <a:ext cx="1057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38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 dirty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STM32F107</a:t>
            </a:r>
          </a:p>
        </p:txBody>
      </p:sp>
      <p:sp>
        <p:nvSpPr>
          <p:cNvPr id="55" name="stm32-body">
            <a:extLst>
              <a:ext uri="{FF2B5EF4-FFF2-40B4-BE49-F238E27FC236}">
                <a16:creationId xmlns:a16="http://schemas.microsoft.com/office/drawing/2014/main" id="{5AB805A4-1E30-4B81-BEB0-54FACD211BD2}"/>
              </a:ext>
            </a:extLst>
          </p:cNvPr>
          <p:cNvSpPr>
            <a:spLocks noGrp="1"/>
          </p:cNvSpPr>
          <p:nvPr/>
        </p:nvSpPr>
        <p:spPr>
          <a:xfrm>
            <a:off x="3076575" y="3848100"/>
            <a:ext cx="10382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00" b="0" dirty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UART 115200 bps</a:t>
            </a:r>
          </a:p>
          <a:p>
            <a:pPr algn="ctr">
              <a:def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00" b="0" dirty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Checksum · Timeout</a:t>
            </a:r>
          </a:p>
        </p:txBody>
      </p:sp>
      <p:sp>
        <p:nvSpPr>
          <p:cNvPr id="56" name="bridge-box">
            <a:extLst>
              <a:ext uri="{FF2B5EF4-FFF2-40B4-BE49-F238E27FC236}">
                <a16:creationId xmlns:a16="http://schemas.microsoft.com/office/drawing/2014/main" id="{F1B6152F-68DA-4C6D-A42E-A7F38216A893}"/>
              </a:ext>
            </a:extLst>
          </p:cNvPr>
          <p:cNvSpPr>
            <a:spLocks noGrp="1"/>
          </p:cNvSpPr>
          <p:nvPr/>
        </p:nvSpPr>
        <p:spPr>
          <a:xfrm>
            <a:off x="4381500" y="3524250"/>
            <a:ext cx="1190625" cy="971550"/>
          </a:xfrm>
          <a:prstGeom prst="roundRect">
            <a:avLst>
              <a:gd name="adj" fmla="val 8824"/>
            </a:avLst>
          </a:prstGeom>
          <a:solidFill>
            <a:srgbClr val="EAF6E7"/>
          </a:solidFill>
          <a:ln w="14288">
            <a:solidFill>
              <a:srgbClr val="5D9C58"/>
            </a:solidFill>
            <a:prstDash val="solid"/>
          </a:ln>
        </p:spPr>
      </p:sp>
      <p:sp>
        <p:nvSpPr>
          <p:cNvPr id="57" name="bridge-title">
            <a:extLst>
              <a:ext uri="{FF2B5EF4-FFF2-40B4-BE49-F238E27FC236}">
                <a16:creationId xmlns:a16="http://schemas.microsoft.com/office/drawing/2014/main" id="{3AE2078C-8879-462E-9DDA-5CEAC86FF0E9}"/>
              </a:ext>
            </a:extLst>
          </p:cNvPr>
          <p:cNvSpPr>
            <a:spLocks noGrp="1"/>
          </p:cNvSpPr>
          <p:nvPr/>
        </p:nvSpPr>
        <p:spPr>
          <a:xfrm>
            <a:off x="4448175" y="3590925"/>
            <a:ext cx="1057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38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Serial–MQTT</a:t>
            </a:r>
          </a:p>
        </p:txBody>
      </p:sp>
      <p:sp>
        <p:nvSpPr>
          <p:cNvPr id="58" name="bridge-body">
            <a:extLst>
              <a:ext uri="{FF2B5EF4-FFF2-40B4-BE49-F238E27FC236}">
                <a16:creationId xmlns:a16="http://schemas.microsoft.com/office/drawing/2014/main" id="{FA0553C1-8F50-4968-9094-D3EEDB3D0D58}"/>
              </a:ext>
            </a:extLst>
          </p:cNvPr>
          <p:cNvSpPr>
            <a:spLocks noGrp="1"/>
          </p:cNvSpPr>
          <p:nvPr/>
        </p:nvSpPr>
        <p:spPr>
          <a:xfrm>
            <a:off x="4457700" y="3848100"/>
            <a:ext cx="103822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JSON 정규화</a:t>
            </a:r>
          </a:p>
          <a:p>
            <a:pPr algn="ctr">
              <a:def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QoS 1 Publish</a:t>
            </a:r>
          </a:p>
        </p:txBody>
      </p:sp>
      <p:sp>
        <p:nvSpPr>
          <p:cNvPr id="59" name="backend-box">
            <a:extLst>
              <a:ext uri="{FF2B5EF4-FFF2-40B4-BE49-F238E27FC236}">
                <a16:creationId xmlns:a16="http://schemas.microsoft.com/office/drawing/2014/main" id="{B257719E-65DA-4015-859A-45C230587236}"/>
              </a:ext>
            </a:extLst>
          </p:cNvPr>
          <p:cNvSpPr>
            <a:spLocks noGrp="1"/>
          </p:cNvSpPr>
          <p:nvPr/>
        </p:nvSpPr>
        <p:spPr>
          <a:xfrm>
            <a:off x="5762625" y="3429000"/>
            <a:ext cx="1381125" cy="1162050"/>
          </a:xfrm>
          <a:prstGeom prst="roundRect">
            <a:avLst>
              <a:gd name="adj" fmla="val 7377"/>
            </a:avLst>
          </a:prstGeom>
          <a:solidFill>
            <a:srgbClr val="EAF6E7"/>
          </a:solidFill>
          <a:ln w="14288">
            <a:solidFill>
              <a:srgbClr val="5D9C58"/>
            </a:solidFill>
            <a:prstDash val="solid"/>
          </a:ln>
        </p:spPr>
      </p:sp>
      <p:sp>
        <p:nvSpPr>
          <p:cNvPr id="60" name="backend-title">
            <a:extLst>
              <a:ext uri="{FF2B5EF4-FFF2-40B4-BE49-F238E27FC236}">
                <a16:creationId xmlns:a16="http://schemas.microsoft.com/office/drawing/2014/main" id="{30C9BBFD-74BA-4B8D-8507-E2CAB3BBBE56}"/>
              </a:ext>
            </a:extLst>
          </p:cNvPr>
          <p:cNvSpPr>
            <a:spLocks noGrp="1"/>
          </p:cNvSpPr>
          <p:nvPr/>
        </p:nvSpPr>
        <p:spPr>
          <a:xfrm>
            <a:off x="5829300" y="3495675"/>
            <a:ext cx="12477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3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3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Backend 저장·QC</a:t>
            </a:r>
          </a:p>
        </p:txBody>
      </p:sp>
      <p:sp>
        <p:nvSpPr>
          <p:cNvPr id="61" name="backend-body">
            <a:extLst>
              <a:ext uri="{FF2B5EF4-FFF2-40B4-BE49-F238E27FC236}">
                <a16:creationId xmlns:a16="http://schemas.microsoft.com/office/drawing/2014/main" id="{DA83F18F-8884-4E32-94FC-50F87EFD8111}"/>
              </a:ext>
            </a:extLst>
          </p:cNvPr>
          <p:cNvSpPr>
            <a:spLocks noGrp="1"/>
          </p:cNvSpPr>
          <p:nvPr/>
        </p:nvSpPr>
        <p:spPr>
          <a:xfrm>
            <a:off x="5838825" y="3752850"/>
            <a:ext cx="1228725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28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28" b="0" dirty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JSONL </a:t>
            </a:r>
            <a:r>
              <a:rPr sz="728" b="0" dirty="0" err="1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원본</a:t>
            </a:r>
            <a:r>
              <a:rPr sz="728" b="0" dirty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28" b="0" dirty="0" err="1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보존</a:t>
            </a:r>
            <a:endParaRPr sz="728" b="0" dirty="0">
              <a:solidFill>
                <a:srgbClr val="607087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defRPr sz="728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28" b="0" dirty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SQLite </a:t>
            </a:r>
            <a:r>
              <a:rPr sz="728" b="0" dirty="0" err="1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정규화</a:t>
            </a:r>
            <a:endParaRPr sz="728" b="0" dirty="0">
              <a:solidFill>
                <a:srgbClr val="607087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defRPr sz="728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28" b="0" dirty="0" err="1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채널</a:t>
            </a:r>
            <a:r>
              <a:rPr lang="en-US" sz="728" dirty="0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728" b="0" dirty="0" err="1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범위</a:t>
            </a:r>
            <a:r>
              <a:rPr lang="en-US" sz="728" dirty="0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728" b="0" dirty="0" err="1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오류</a:t>
            </a:r>
            <a:r>
              <a:rPr sz="728" b="0" dirty="0" smtClean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28" b="0" dirty="0" err="1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검사</a:t>
            </a:r>
            <a:endParaRPr sz="728" b="0" dirty="0">
              <a:solidFill>
                <a:srgbClr val="607087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defRPr sz="728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28" b="0" dirty="0" err="1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동일</a:t>
            </a:r>
            <a:r>
              <a:rPr sz="728" b="0" dirty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28" b="0" dirty="0" err="1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시간창</a:t>
            </a:r>
            <a:r>
              <a:rPr sz="728" b="0" dirty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28" b="0" dirty="0" err="1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정합</a:t>
            </a:r>
            <a:endParaRPr sz="728" b="0" dirty="0">
              <a:solidFill>
                <a:srgbClr val="60708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2" name="offset-box">
            <a:extLst>
              <a:ext uri="{FF2B5EF4-FFF2-40B4-BE49-F238E27FC236}">
                <a16:creationId xmlns:a16="http://schemas.microsoft.com/office/drawing/2014/main" id="{99FC0E85-DD3A-4A9B-966D-8E4FAA007FB2}"/>
              </a:ext>
            </a:extLst>
          </p:cNvPr>
          <p:cNvSpPr>
            <a:spLocks noGrp="1"/>
          </p:cNvSpPr>
          <p:nvPr/>
        </p:nvSpPr>
        <p:spPr>
          <a:xfrm>
            <a:off x="7334250" y="3524250"/>
            <a:ext cx="1238250" cy="971550"/>
          </a:xfrm>
          <a:prstGeom prst="roundRect">
            <a:avLst>
              <a:gd name="adj" fmla="val 8824"/>
            </a:avLst>
          </a:prstGeom>
          <a:solidFill>
            <a:srgbClr val="FFF1DB"/>
          </a:solidFill>
          <a:ln w="14288">
            <a:solidFill>
              <a:srgbClr val="D9912D"/>
            </a:solidFill>
            <a:prstDash val="solid"/>
          </a:ln>
        </p:spPr>
      </p:sp>
      <p:sp>
        <p:nvSpPr>
          <p:cNvPr id="63" name="offset-title">
            <a:extLst>
              <a:ext uri="{FF2B5EF4-FFF2-40B4-BE49-F238E27FC236}">
                <a16:creationId xmlns:a16="http://schemas.microsoft.com/office/drawing/2014/main" id="{91DBF24E-F66A-454D-A27D-1C1119ED908A}"/>
              </a:ext>
            </a:extLst>
          </p:cNvPr>
          <p:cNvSpPr>
            <a:spLocks noGrp="1"/>
          </p:cNvSpPr>
          <p:nvPr/>
        </p:nvSpPr>
        <p:spPr>
          <a:xfrm>
            <a:off x="7400925" y="3590925"/>
            <a:ext cx="1104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3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3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장치 편차 보정</a:t>
            </a:r>
          </a:p>
        </p:txBody>
      </p:sp>
      <p:sp>
        <p:nvSpPr>
          <p:cNvPr id="64" name="offset-body">
            <a:extLst>
              <a:ext uri="{FF2B5EF4-FFF2-40B4-BE49-F238E27FC236}">
                <a16:creationId xmlns:a16="http://schemas.microsoft.com/office/drawing/2014/main" id="{4749B24B-2A0F-4190-8750-144B30E49925}"/>
              </a:ext>
            </a:extLst>
          </p:cNvPr>
          <p:cNvSpPr>
            <a:spLocks noGrp="1"/>
          </p:cNvSpPr>
          <p:nvPr/>
        </p:nvSpPr>
        <p:spPr>
          <a:xfrm>
            <a:off x="7410450" y="3848100"/>
            <a:ext cx="10858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공통 위치 중앙값</a:t>
            </a:r>
          </a:p>
          <a:p>
            <a:pPr algn="ctr">
              <a:def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corrected_rssi</a:t>
            </a:r>
          </a:p>
        </p:txBody>
      </p:sp>
      <p:sp>
        <p:nvSpPr>
          <p:cNvPr id="65" name="split-box">
            <a:extLst>
              <a:ext uri="{FF2B5EF4-FFF2-40B4-BE49-F238E27FC236}">
                <a16:creationId xmlns:a16="http://schemas.microsoft.com/office/drawing/2014/main" id="{763E2157-B16D-46B8-8F57-BA2B584A7169}"/>
              </a:ext>
            </a:extLst>
          </p:cNvPr>
          <p:cNvSpPr>
            <a:spLocks noGrp="1"/>
          </p:cNvSpPr>
          <p:nvPr/>
        </p:nvSpPr>
        <p:spPr>
          <a:xfrm>
            <a:off x="8763000" y="3524250"/>
            <a:ext cx="1238250" cy="971550"/>
          </a:xfrm>
          <a:prstGeom prst="roundRect">
            <a:avLst>
              <a:gd name="adj" fmla="val 8824"/>
            </a:avLst>
          </a:prstGeom>
          <a:solidFill>
            <a:srgbClr val="FFF1DB"/>
          </a:solidFill>
          <a:ln w="14288">
            <a:solidFill>
              <a:srgbClr val="D9912D"/>
            </a:solidFill>
            <a:prstDash val="solid"/>
          </a:ln>
        </p:spPr>
      </p:sp>
      <p:sp>
        <p:nvSpPr>
          <p:cNvPr id="66" name="split-title">
            <a:extLst>
              <a:ext uri="{FF2B5EF4-FFF2-40B4-BE49-F238E27FC236}">
                <a16:creationId xmlns:a16="http://schemas.microsoft.com/office/drawing/2014/main" id="{9925BF63-20C8-42C5-A8FA-9C2FF816107F}"/>
              </a:ext>
            </a:extLst>
          </p:cNvPr>
          <p:cNvSpPr>
            <a:spLocks noGrp="1"/>
          </p:cNvSpPr>
          <p:nvPr/>
        </p:nvSpPr>
        <p:spPr>
          <a:xfrm>
            <a:off x="8829675" y="3590925"/>
            <a:ext cx="1104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4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4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데이터 분리</a:t>
            </a:r>
          </a:p>
        </p:txBody>
      </p:sp>
      <p:sp>
        <p:nvSpPr>
          <p:cNvPr id="67" name="split-body">
            <a:extLst>
              <a:ext uri="{FF2B5EF4-FFF2-40B4-BE49-F238E27FC236}">
                <a16:creationId xmlns:a16="http://schemas.microsoft.com/office/drawing/2014/main" id="{AB2F1C10-32F2-4369-B0F0-28A521DD2800}"/>
              </a:ext>
            </a:extLst>
          </p:cNvPr>
          <p:cNvSpPr>
            <a:spLocks noGrp="1"/>
          </p:cNvSpPr>
          <p:nvPr/>
        </p:nvSpPr>
        <p:spPr>
          <a:xfrm>
            <a:off x="8839200" y="3848100"/>
            <a:ext cx="10858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Calibration C1–C4</a:t>
            </a:r>
          </a:p>
          <a:p>
            <a:pPr algn="ctr">
              <a:def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Test T1–T10</a:t>
            </a:r>
          </a:p>
        </p:txBody>
      </p:sp>
      <p:sp>
        <p:nvSpPr>
          <p:cNvPr id="68" name="calibration-rssi-box">
            <a:extLst>
              <a:ext uri="{FF2B5EF4-FFF2-40B4-BE49-F238E27FC236}">
                <a16:creationId xmlns:a16="http://schemas.microsoft.com/office/drawing/2014/main" id="{52D34A2B-5C0C-407C-A978-3AA4245D1D23}"/>
              </a:ext>
            </a:extLst>
          </p:cNvPr>
          <p:cNvSpPr>
            <a:spLocks noGrp="1"/>
          </p:cNvSpPr>
          <p:nvPr/>
        </p:nvSpPr>
        <p:spPr>
          <a:xfrm>
            <a:off x="10287000" y="5143500"/>
            <a:ext cx="1190625" cy="685800"/>
          </a:xfrm>
          <a:prstGeom prst="roundRect">
            <a:avLst>
              <a:gd name="adj" fmla="val 12500"/>
            </a:avLst>
          </a:prstGeom>
          <a:solidFill>
            <a:srgbClr val="FFF1DB"/>
          </a:solidFill>
          <a:ln w="14288">
            <a:solidFill>
              <a:srgbClr val="D9912D"/>
            </a:solidFill>
            <a:prstDash val="solid"/>
          </a:ln>
        </p:spPr>
      </p:sp>
      <p:sp>
        <p:nvSpPr>
          <p:cNvPr id="69" name="calibration-rssi-title">
            <a:extLst>
              <a:ext uri="{FF2B5EF4-FFF2-40B4-BE49-F238E27FC236}">
                <a16:creationId xmlns:a16="http://schemas.microsoft.com/office/drawing/2014/main" id="{F6F20835-B2C8-4FC7-A324-A7E7498912BC}"/>
              </a:ext>
            </a:extLst>
          </p:cNvPr>
          <p:cNvSpPr>
            <a:spLocks noGrp="1"/>
          </p:cNvSpPr>
          <p:nvPr/>
        </p:nvSpPr>
        <p:spPr>
          <a:xfrm>
            <a:off x="10353675" y="5210175"/>
            <a:ext cx="1057275" cy="2331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23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23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보정 RSSI</a:t>
            </a:r>
          </a:p>
        </p:txBody>
      </p:sp>
      <p:sp>
        <p:nvSpPr>
          <p:cNvPr id="70" name="calibration-rssi-body">
            <a:extLst>
              <a:ext uri="{FF2B5EF4-FFF2-40B4-BE49-F238E27FC236}">
                <a16:creationId xmlns:a16="http://schemas.microsoft.com/office/drawing/2014/main" id="{527FB616-413A-4722-A3F8-A178B79E3A03}"/>
              </a:ext>
            </a:extLst>
          </p:cNvPr>
          <p:cNvSpPr>
            <a:spLocks noGrp="1"/>
          </p:cNvSpPr>
          <p:nvPr/>
        </p:nvSpPr>
        <p:spPr>
          <a:xfrm>
            <a:off x="10363200" y="5414772"/>
            <a:ext cx="1038225" cy="3478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Calibration only</a:t>
            </a:r>
          </a:p>
        </p:txBody>
      </p:sp>
      <p:sp>
        <p:nvSpPr>
          <p:cNvPr id="71" name="test-rssi-box">
            <a:extLst>
              <a:ext uri="{FF2B5EF4-FFF2-40B4-BE49-F238E27FC236}">
                <a16:creationId xmlns:a16="http://schemas.microsoft.com/office/drawing/2014/main" id="{87DCB717-B3C3-4B19-850E-EDC153EA7F98}"/>
              </a:ext>
            </a:extLst>
          </p:cNvPr>
          <p:cNvSpPr>
            <a:spLocks noGrp="1"/>
          </p:cNvSpPr>
          <p:nvPr/>
        </p:nvSpPr>
        <p:spPr>
          <a:xfrm>
            <a:off x="11715750" y="5143500"/>
            <a:ext cx="1190625" cy="685800"/>
          </a:xfrm>
          <a:prstGeom prst="roundRect">
            <a:avLst>
              <a:gd name="adj" fmla="val 12500"/>
            </a:avLst>
          </a:prstGeom>
          <a:solidFill>
            <a:srgbClr val="E6F6F7"/>
          </a:solidFill>
          <a:ln w="14288">
            <a:solidFill>
              <a:srgbClr val="3D949B"/>
            </a:solidFill>
            <a:prstDash val="solid"/>
          </a:ln>
        </p:spPr>
      </p:sp>
      <p:sp>
        <p:nvSpPr>
          <p:cNvPr id="72" name="test-rssi-title">
            <a:extLst>
              <a:ext uri="{FF2B5EF4-FFF2-40B4-BE49-F238E27FC236}">
                <a16:creationId xmlns:a16="http://schemas.microsoft.com/office/drawing/2014/main" id="{953C03A9-82C6-4D37-A003-E37AA13A6553}"/>
              </a:ext>
            </a:extLst>
          </p:cNvPr>
          <p:cNvSpPr>
            <a:spLocks noGrp="1"/>
          </p:cNvSpPr>
          <p:nvPr/>
        </p:nvSpPr>
        <p:spPr>
          <a:xfrm>
            <a:off x="11782425" y="5210175"/>
            <a:ext cx="1057275" cy="2331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23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23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시험 RSSI</a:t>
            </a:r>
          </a:p>
        </p:txBody>
      </p:sp>
      <p:sp>
        <p:nvSpPr>
          <p:cNvPr id="73" name="test-rssi-body">
            <a:extLst>
              <a:ext uri="{FF2B5EF4-FFF2-40B4-BE49-F238E27FC236}">
                <a16:creationId xmlns:a16="http://schemas.microsoft.com/office/drawing/2014/main" id="{5960BCC1-3BFC-4F64-A5C0-AA7E8F4B538A}"/>
              </a:ext>
            </a:extLst>
          </p:cNvPr>
          <p:cNvSpPr>
            <a:spLocks noGrp="1"/>
          </p:cNvSpPr>
          <p:nvPr/>
        </p:nvSpPr>
        <p:spPr>
          <a:xfrm>
            <a:off x="11791950" y="5414772"/>
            <a:ext cx="1038225" cy="3478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평가 정답값</a:t>
            </a:r>
          </a:p>
        </p:txBody>
      </p:sp>
      <p:cxnSp>
        <p:nvCxnSpPr>
          <p:cNvPr id="197" name="직선 화살표 연결선 196"/>
          <p:cNvCxnSpPr>
            <a:stCxn id="47" idx="3"/>
            <a:endCxn id="50" idx="1"/>
          </p:cNvCxnSpPr>
          <p:nvPr/>
        </p:nvCxnSpPr>
        <p:spPr>
          <a:xfrm>
            <a:off x="1428750" y="4010025"/>
            <a:ext cx="190500" cy="0"/>
          </a:xfrm>
          <a:prstGeom prst="straightConnector1">
            <a:avLst/>
          </a:prstGeom>
          <a:ln w="14764">
            <a:solidFill>
              <a:srgbClr val="40536B"/>
            </a:solidFill>
            <a:prstDash val="solid"/>
            <a:tailEnd type="triangle" w="sm" len="sm"/>
          </a:ln>
        </p:spPr>
      </p:cxnSp>
      <p:cxnSp>
        <p:nvCxnSpPr>
          <p:cNvPr id="198" name="직선 화살표 연결선 197"/>
          <p:cNvCxnSpPr>
            <a:stCxn id="50" idx="3"/>
            <a:endCxn id="53" idx="1"/>
          </p:cNvCxnSpPr>
          <p:nvPr/>
        </p:nvCxnSpPr>
        <p:spPr>
          <a:xfrm>
            <a:off x="2809875" y="4010025"/>
            <a:ext cx="190500" cy="0"/>
          </a:xfrm>
          <a:prstGeom prst="straightConnector1">
            <a:avLst/>
          </a:prstGeom>
          <a:ln w="14764">
            <a:solidFill>
              <a:srgbClr val="40536B"/>
            </a:solidFill>
            <a:prstDash val="solid"/>
            <a:tailEnd type="triangle" w="sm" len="sm"/>
          </a:ln>
        </p:spPr>
      </p:cxnSp>
      <p:cxnSp>
        <p:nvCxnSpPr>
          <p:cNvPr id="199" name="직선 화살표 연결선 198"/>
          <p:cNvCxnSpPr>
            <a:stCxn id="53" idx="3"/>
            <a:endCxn id="56" idx="1"/>
          </p:cNvCxnSpPr>
          <p:nvPr/>
        </p:nvCxnSpPr>
        <p:spPr>
          <a:xfrm>
            <a:off x="4191000" y="4010025"/>
            <a:ext cx="190500" cy="0"/>
          </a:xfrm>
          <a:prstGeom prst="straightConnector1">
            <a:avLst/>
          </a:prstGeom>
          <a:ln w="14764">
            <a:solidFill>
              <a:srgbClr val="40536B"/>
            </a:solidFill>
            <a:prstDash val="solid"/>
            <a:tailEnd type="triangle" w="sm" len="sm"/>
          </a:ln>
        </p:spPr>
      </p:cxnSp>
      <p:cxnSp>
        <p:nvCxnSpPr>
          <p:cNvPr id="200" name="직선 화살표 연결선 199"/>
          <p:cNvCxnSpPr>
            <a:stCxn id="56" idx="3"/>
            <a:endCxn id="59" idx="1"/>
          </p:cNvCxnSpPr>
          <p:nvPr/>
        </p:nvCxnSpPr>
        <p:spPr>
          <a:xfrm>
            <a:off x="5572125" y="4010025"/>
            <a:ext cx="190500" cy="0"/>
          </a:xfrm>
          <a:prstGeom prst="straightConnector1">
            <a:avLst/>
          </a:prstGeom>
          <a:ln w="14764">
            <a:solidFill>
              <a:srgbClr val="40536B"/>
            </a:solidFill>
            <a:prstDash val="solid"/>
            <a:tailEnd type="triangle" w="sm" len="sm"/>
          </a:ln>
        </p:spPr>
      </p:cxnSp>
      <p:cxnSp>
        <p:nvCxnSpPr>
          <p:cNvPr id="201" name="직선 화살표 연결선 200"/>
          <p:cNvCxnSpPr>
            <a:stCxn id="59" idx="3"/>
            <a:endCxn id="62" idx="1"/>
          </p:cNvCxnSpPr>
          <p:nvPr/>
        </p:nvCxnSpPr>
        <p:spPr>
          <a:xfrm>
            <a:off x="7143750" y="4010025"/>
            <a:ext cx="190500" cy="0"/>
          </a:xfrm>
          <a:prstGeom prst="straightConnector1">
            <a:avLst/>
          </a:prstGeom>
          <a:ln w="14764">
            <a:solidFill>
              <a:srgbClr val="40536B"/>
            </a:solidFill>
            <a:prstDash val="solid"/>
            <a:tailEnd type="triangle" w="sm" len="sm"/>
          </a:ln>
        </p:spPr>
      </p:cxnSp>
      <p:cxnSp>
        <p:nvCxnSpPr>
          <p:cNvPr id="202" name="직선 화살표 연결선 201"/>
          <p:cNvCxnSpPr>
            <a:stCxn id="62" idx="3"/>
            <a:endCxn id="65" idx="1"/>
          </p:cNvCxnSpPr>
          <p:nvPr/>
        </p:nvCxnSpPr>
        <p:spPr>
          <a:xfrm>
            <a:off x="8572500" y="4010025"/>
            <a:ext cx="190500" cy="0"/>
          </a:xfrm>
          <a:prstGeom prst="straightConnector1">
            <a:avLst/>
          </a:prstGeom>
          <a:ln w="14764">
            <a:solidFill>
              <a:srgbClr val="40536B"/>
            </a:solidFill>
            <a:prstDash val="solid"/>
            <a:tailEnd type="triangle" w="sm" len="sm"/>
          </a:ln>
        </p:spPr>
      </p:cxnSp>
      <p:cxnSp>
        <p:nvCxnSpPr>
          <p:cNvPr id="203" name="꺾인 연결선 202"/>
          <p:cNvCxnSpPr>
            <a:stCxn id="65" idx="2"/>
            <a:endCxn id="68" idx="0"/>
          </p:cNvCxnSpPr>
          <p:nvPr/>
        </p:nvCxnSpPr>
        <p:spPr>
          <a:xfrm>
            <a:off x="9382125" y="4495800"/>
            <a:ext cx="1500188" cy="647700"/>
          </a:xfrm>
          <a:prstGeom prst="bentConnector4">
            <a:avLst>
              <a:gd name="adj1" fmla="val 0"/>
              <a:gd name="adj2" fmla="val 50000"/>
            </a:avLst>
          </a:prstGeom>
          <a:ln w="14764">
            <a:solidFill>
              <a:srgbClr val="40536B"/>
            </a:solidFill>
            <a:prstDash val="solid"/>
            <a:tailEnd type="triangle" w="sm" len="sm"/>
          </a:ln>
        </p:spPr>
      </p:cxnSp>
      <p:cxnSp>
        <p:nvCxnSpPr>
          <p:cNvPr id="204" name="꺾인 연결선 203"/>
          <p:cNvCxnSpPr>
            <a:stCxn id="65" idx="2"/>
            <a:endCxn id="71" idx="0"/>
          </p:cNvCxnSpPr>
          <p:nvPr/>
        </p:nvCxnSpPr>
        <p:spPr>
          <a:xfrm>
            <a:off x="9382125" y="4495800"/>
            <a:ext cx="2928938" cy="647700"/>
          </a:xfrm>
          <a:prstGeom prst="bentConnector4">
            <a:avLst>
              <a:gd name="adj1" fmla="val 0"/>
              <a:gd name="adj2" fmla="val 50000"/>
            </a:avLst>
          </a:prstGeom>
          <a:ln w="14764">
            <a:solidFill>
              <a:srgbClr val="40536B"/>
            </a:solidFill>
            <a:prstDash val="solid"/>
            <a:tailEnd type="triangle" w="sm" len="sm"/>
          </a:ln>
        </p:spPr>
      </p:cxnSp>
      <p:sp>
        <p:nvSpPr>
          <p:cNvPr id="82" name="calibration-models-box">
            <a:extLst>
              <a:ext uri="{FF2B5EF4-FFF2-40B4-BE49-F238E27FC236}">
                <a16:creationId xmlns:a16="http://schemas.microsoft.com/office/drawing/2014/main" id="{A0EB745B-FC37-4D6F-BEEA-112B7CE10389}"/>
              </a:ext>
            </a:extLst>
          </p:cNvPr>
          <p:cNvSpPr>
            <a:spLocks noGrp="1"/>
          </p:cNvSpPr>
          <p:nvPr/>
        </p:nvSpPr>
        <p:spPr>
          <a:xfrm>
            <a:off x="10858500" y="876300"/>
            <a:ext cx="1809750" cy="1352550"/>
          </a:xfrm>
          <a:prstGeom prst="roundRect">
            <a:avLst>
              <a:gd name="adj" fmla="val 6338"/>
            </a:avLst>
          </a:prstGeom>
          <a:solidFill>
            <a:srgbClr val="FFF1DB"/>
          </a:solidFill>
          <a:ln w="14288">
            <a:solidFill>
              <a:srgbClr val="D9912D"/>
            </a:solidFill>
            <a:prstDash val="solid"/>
          </a:ln>
        </p:spPr>
      </p:sp>
      <p:sp>
        <p:nvSpPr>
          <p:cNvPr id="83" name="calibration-models-title">
            <a:extLst>
              <a:ext uri="{FF2B5EF4-FFF2-40B4-BE49-F238E27FC236}">
                <a16:creationId xmlns:a16="http://schemas.microsoft.com/office/drawing/2014/main" id="{1455D351-015B-4649-89DE-AE4FEB0F0411}"/>
              </a:ext>
            </a:extLst>
          </p:cNvPr>
          <p:cNvSpPr>
            <a:spLocks noGrp="1"/>
          </p:cNvSpPr>
          <p:nvPr/>
        </p:nvSpPr>
        <p:spPr>
          <a:xfrm>
            <a:off x="10925175" y="942975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468"/>
          </a:bodyPr>
          <a:lstStyle/>
          <a:p>
            <a:pPr algn="ctr">
              <a:defRPr sz="968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68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Calibration 기반 방법 구성</a:t>
            </a:r>
          </a:p>
        </p:txBody>
      </p:sp>
      <p:sp>
        <p:nvSpPr>
          <p:cNvPr id="84" name="calibration-models-body">
            <a:extLst>
              <a:ext uri="{FF2B5EF4-FFF2-40B4-BE49-F238E27FC236}">
                <a16:creationId xmlns:a16="http://schemas.microsoft.com/office/drawing/2014/main" id="{080EA1D1-0FFE-4866-B647-3DE1E70ACC92}"/>
              </a:ext>
            </a:extLst>
          </p:cNvPr>
          <p:cNvSpPr>
            <a:spLocks noGrp="1"/>
          </p:cNvSpPr>
          <p:nvPr/>
        </p:nvSpPr>
        <p:spPr>
          <a:xfrm>
            <a:off x="10934700" y="1200150"/>
            <a:ext cx="1657350" cy="962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28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28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Raw: 보정 없이 통과</a:t>
            </a:r>
          </a:p>
          <a:p>
            <a:pPr algn="ctr">
              <a:defRPr sz="728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28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Plain IDW: R(x_i) 보간</a:t>
            </a:r>
          </a:p>
          <a:p>
            <a:pPr algn="ctr">
              <a:defRPr sz="728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28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Residual IDW: e_i 보간</a:t>
            </a:r>
          </a:p>
          <a:p>
            <a:pPr algn="ctr">
              <a:defRPr sz="728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28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Global bias: mean(e_i)</a:t>
            </a:r>
          </a:p>
        </p:txBody>
      </p:sp>
      <p:sp>
        <p:nvSpPr>
          <p:cNvPr id="85" name="test-point-methods-box">
            <a:extLst>
              <a:ext uri="{FF2B5EF4-FFF2-40B4-BE49-F238E27FC236}">
                <a16:creationId xmlns:a16="http://schemas.microsoft.com/office/drawing/2014/main" id="{2E4BB54F-9145-4E22-911C-4D0D9B9B24C1}"/>
              </a:ext>
            </a:extLst>
          </p:cNvPr>
          <p:cNvSpPr>
            <a:spLocks noGrp="1"/>
          </p:cNvSpPr>
          <p:nvPr/>
        </p:nvSpPr>
        <p:spPr>
          <a:xfrm>
            <a:off x="12954000" y="876300"/>
            <a:ext cx="1381125" cy="1352550"/>
          </a:xfrm>
          <a:prstGeom prst="roundRect">
            <a:avLst>
              <a:gd name="adj" fmla="val 6338"/>
            </a:avLst>
          </a:prstGeom>
          <a:solidFill>
            <a:srgbClr val="E6F6F7"/>
          </a:solidFill>
          <a:ln w="14288">
            <a:solidFill>
              <a:srgbClr val="3D949B"/>
            </a:solidFill>
            <a:prstDash val="solid"/>
          </a:ln>
        </p:spPr>
      </p:sp>
      <p:sp>
        <p:nvSpPr>
          <p:cNvPr id="86" name="test-point-methods-title">
            <a:extLst>
              <a:ext uri="{FF2B5EF4-FFF2-40B4-BE49-F238E27FC236}">
                <a16:creationId xmlns:a16="http://schemas.microsoft.com/office/drawing/2014/main" id="{15986154-64C8-40A6-834C-281AF222D424}"/>
              </a:ext>
            </a:extLst>
          </p:cNvPr>
          <p:cNvSpPr>
            <a:spLocks noGrp="1"/>
          </p:cNvSpPr>
          <p:nvPr/>
        </p:nvSpPr>
        <p:spPr>
          <a:xfrm>
            <a:off x="13020675" y="942975"/>
            <a:ext cx="12477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111"/>
          </a:bodyPr>
          <a:lstStyle/>
          <a:p>
            <a:pPr algn="ctr">
              <a:defRPr sz="938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시험지점 방법별 예측</a:t>
            </a:r>
          </a:p>
        </p:txBody>
      </p:sp>
      <p:sp>
        <p:nvSpPr>
          <p:cNvPr id="87" name="test-point-methods-body">
            <a:extLst>
              <a:ext uri="{FF2B5EF4-FFF2-40B4-BE49-F238E27FC236}">
                <a16:creationId xmlns:a16="http://schemas.microsoft.com/office/drawing/2014/main" id="{1A58F226-1ABF-48F4-A5F7-236BA9176AE1}"/>
              </a:ext>
            </a:extLst>
          </p:cNvPr>
          <p:cNvSpPr>
            <a:spLocks noGrp="1"/>
          </p:cNvSpPr>
          <p:nvPr/>
        </p:nvSpPr>
        <p:spPr>
          <a:xfrm>
            <a:off x="13030200" y="1200150"/>
            <a:ext cx="1228725" cy="962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Raw Sionna RT</a:t>
            </a:r>
          </a:p>
          <a:p>
            <a:pPr algn="ctr">
              <a:def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Plain IDW</a:t>
            </a:r>
          </a:p>
          <a:p>
            <a:pPr algn="ctr">
              <a:def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Residual IDW</a:t>
            </a:r>
          </a:p>
          <a:p>
            <a:pPr algn="ctr">
              <a:def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Global-bias</a:t>
            </a:r>
          </a:p>
        </p:txBody>
      </p:sp>
      <p:sp>
        <p:nvSpPr>
          <p:cNvPr id="88" name="evaluation-box">
            <a:extLst>
              <a:ext uri="{FF2B5EF4-FFF2-40B4-BE49-F238E27FC236}">
                <a16:creationId xmlns:a16="http://schemas.microsoft.com/office/drawing/2014/main" id="{B7340C39-F25C-47AF-B788-D96B4491A3F4}"/>
              </a:ext>
            </a:extLst>
          </p:cNvPr>
          <p:cNvSpPr>
            <a:spLocks noGrp="1"/>
          </p:cNvSpPr>
          <p:nvPr/>
        </p:nvSpPr>
        <p:spPr>
          <a:xfrm>
            <a:off x="14525625" y="1000125"/>
            <a:ext cx="619125" cy="1104900"/>
          </a:xfrm>
          <a:prstGeom prst="roundRect">
            <a:avLst>
              <a:gd name="adj" fmla="val 13846"/>
            </a:avLst>
          </a:prstGeom>
          <a:solidFill>
            <a:srgbClr val="E6F6F7"/>
          </a:solidFill>
          <a:ln w="14288">
            <a:solidFill>
              <a:srgbClr val="3D949B"/>
            </a:solidFill>
            <a:prstDash val="solid"/>
          </a:ln>
        </p:spPr>
      </p:sp>
      <p:sp>
        <p:nvSpPr>
          <p:cNvPr id="89" name="evaluation-title">
            <a:extLst>
              <a:ext uri="{FF2B5EF4-FFF2-40B4-BE49-F238E27FC236}">
                <a16:creationId xmlns:a16="http://schemas.microsoft.com/office/drawing/2014/main" id="{A4254835-771A-4530-883E-B93F75A1C291}"/>
              </a:ext>
            </a:extLst>
          </p:cNvPr>
          <p:cNvSpPr>
            <a:spLocks noGrp="1"/>
          </p:cNvSpPr>
          <p:nvPr/>
        </p:nvSpPr>
        <p:spPr>
          <a:xfrm>
            <a:off x="14592300" y="1066800"/>
            <a:ext cx="4857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6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6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평가</a:t>
            </a:r>
          </a:p>
        </p:txBody>
      </p:sp>
      <p:sp>
        <p:nvSpPr>
          <p:cNvPr id="90" name="evaluation-body">
            <a:extLst>
              <a:ext uri="{FF2B5EF4-FFF2-40B4-BE49-F238E27FC236}">
                <a16:creationId xmlns:a16="http://schemas.microsoft.com/office/drawing/2014/main" id="{F62C8497-9147-48BB-B864-F681186260E4}"/>
              </a:ext>
            </a:extLst>
          </p:cNvPr>
          <p:cNvSpPr>
            <a:spLocks noGrp="1"/>
          </p:cNvSpPr>
          <p:nvPr/>
        </p:nvSpPr>
        <p:spPr>
          <a:xfrm>
            <a:off x="14601825" y="1323975"/>
            <a:ext cx="4667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0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MAE</a:t>
            </a:r>
          </a:p>
          <a:p>
            <a:pPr algn="ctr">
              <a:defRPr sz="70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RMSE</a:t>
            </a:r>
          </a:p>
          <a:p>
            <a:pPr algn="ctr">
              <a:defRPr sz="70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ME</a:t>
            </a:r>
          </a:p>
          <a:p>
            <a:pPr algn="ctr">
              <a:defRPr sz="70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0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MaxAE</a:t>
            </a:r>
          </a:p>
        </p:txBody>
      </p:sp>
      <p:cxnSp>
        <p:nvCxnSpPr>
          <p:cNvPr id="214" name="직선 화살표 연결선 213"/>
          <p:cNvCxnSpPr>
            <a:stCxn id="32" idx="3"/>
            <a:endCxn id="82" idx="1"/>
          </p:cNvCxnSpPr>
          <p:nvPr/>
        </p:nvCxnSpPr>
        <p:spPr>
          <a:xfrm>
            <a:off x="10525125" y="1133475"/>
            <a:ext cx="333375" cy="419100"/>
          </a:xfrm>
          <a:prstGeom prst="straightConnector1">
            <a:avLst/>
          </a:prstGeom>
          <a:ln w="14764">
            <a:solidFill>
              <a:srgbClr val="40536B"/>
            </a:solidFill>
            <a:prstDash val="solid"/>
            <a:tailEnd type="triangle" w="sm" len="sm"/>
          </a:ln>
        </p:spPr>
      </p:cxnSp>
      <p:cxnSp>
        <p:nvCxnSpPr>
          <p:cNvPr id="215" name="직선 화살표 연결선 214"/>
          <p:cNvCxnSpPr>
            <a:stCxn id="82" idx="3"/>
            <a:endCxn id="85" idx="1"/>
          </p:cNvCxnSpPr>
          <p:nvPr/>
        </p:nvCxnSpPr>
        <p:spPr>
          <a:xfrm>
            <a:off x="12668250" y="1552575"/>
            <a:ext cx="285750" cy="0"/>
          </a:xfrm>
          <a:prstGeom prst="straightConnector1">
            <a:avLst/>
          </a:prstGeom>
          <a:ln w="14764">
            <a:solidFill>
              <a:srgbClr val="40536B"/>
            </a:solidFill>
            <a:prstDash val="solid"/>
            <a:tailEnd type="triangle" w="sm" len="sm"/>
          </a:ln>
        </p:spPr>
      </p:cxnSp>
      <p:cxnSp>
        <p:nvCxnSpPr>
          <p:cNvPr id="216" name="직선 화살표 연결선 215"/>
          <p:cNvCxnSpPr>
            <a:stCxn id="85" idx="3"/>
            <a:endCxn id="88" idx="1"/>
          </p:cNvCxnSpPr>
          <p:nvPr/>
        </p:nvCxnSpPr>
        <p:spPr>
          <a:xfrm>
            <a:off x="14335125" y="1552575"/>
            <a:ext cx="190500" cy="0"/>
          </a:xfrm>
          <a:prstGeom prst="straightConnector1">
            <a:avLst/>
          </a:prstGeom>
          <a:ln w="14764">
            <a:solidFill>
              <a:srgbClr val="40536B"/>
            </a:solidFill>
            <a:prstDash val="solid"/>
            <a:tailEnd type="triangle" w="sm" len="sm"/>
          </a:ln>
        </p:spPr>
      </p:cxnSp>
      <p:sp>
        <p:nvSpPr>
          <p:cNvPr id="94" name="calibration-to-models-route-0">
            <a:extLst>
              <a:ext uri="{FF2B5EF4-FFF2-40B4-BE49-F238E27FC236}">
                <a16:creationId xmlns:a16="http://schemas.microsoft.com/office/drawing/2014/main" id="{EB8E3214-1CB0-4358-8F1D-81EB0625A315}"/>
              </a:ext>
            </a:extLst>
          </p:cNvPr>
          <p:cNvSpPr>
            <a:spLocks noGrp="1"/>
          </p:cNvSpPr>
          <p:nvPr/>
        </p:nvSpPr>
        <p:spPr>
          <a:xfrm>
            <a:off x="10872788" y="51387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95" name="calibration-to-models-route-1">
            <a:extLst>
              <a:ext uri="{FF2B5EF4-FFF2-40B4-BE49-F238E27FC236}">
                <a16:creationId xmlns:a16="http://schemas.microsoft.com/office/drawing/2014/main" id="{92563721-BE60-4D7B-BA4F-D98F93513F6B}"/>
              </a:ext>
            </a:extLst>
          </p:cNvPr>
          <p:cNvSpPr>
            <a:spLocks noGrp="1"/>
          </p:cNvSpPr>
          <p:nvPr/>
        </p:nvSpPr>
        <p:spPr>
          <a:xfrm>
            <a:off x="10644188" y="51387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96" name="calibration-to-models-route-2">
            <a:extLst>
              <a:ext uri="{FF2B5EF4-FFF2-40B4-BE49-F238E27FC236}">
                <a16:creationId xmlns:a16="http://schemas.microsoft.com/office/drawing/2014/main" id="{DD209D66-5612-4BAE-B1FB-8310523457E2}"/>
              </a:ext>
            </a:extLst>
          </p:cNvPr>
          <p:cNvSpPr>
            <a:spLocks noGrp="1"/>
          </p:cNvSpPr>
          <p:nvPr/>
        </p:nvSpPr>
        <p:spPr>
          <a:xfrm>
            <a:off x="10644188" y="154781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97" name="calibration-to-models-route-3">
            <a:extLst>
              <a:ext uri="{FF2B5EF4-FFF2-40B4-BE49-F238E27FC236}">
                <a16:creationId xmlns:a16="http://schemas.microsoft.com/office/drawing/2014/main" id="{47912890-D91E-41C5-ABD6-A3DAD506C8CB}"/>
              </a:ext>
            </a:extLst>
          </p:cNvPr>
          <p:cNvSpPr>
            <a:spLocks noGrp="1"/>
          </p:cNvSpPr>
          <p:nvPr/>
        </p:nvSpPr>
        <p:spPr>
          <a:xfrm>
            <a:off x="10853738" y="154781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221" name="직선 화살표 연결선 220"/>
          <p:cNvCxnSpPr>
            <a:stCxn id="94" idx="2"/>
            <a:endCxn id="95" idx="6"/>
          </p:cNvCxnSpPr>
          <p:nvPr/>
        </p:nvCxnSpPr>
        <p:spPr>
          <a:xfrm flipH="1">
            <a:off x="10653713" y="5143501"/>
            <a:ext cx="219075" cy="0"/>
          </a:xfrm>
          <a:prstGeom prst="straightConnector1">
            <a:avLst/>
          </a:prstGeom>
          <a:ln w="14764">
            <a:solidFill>
              <a:srgbClr val="D9912D"/>
            </a:solidFill>
            <a:prstDash val="solid"/>
          </a:ln>
        </p:spPr>
      </p:cxnSp>
      <p:cxnSp>
        <p:nvCxnSpPr>
          <p:cNvPr id="222" name="직선 화살표 연결선 221"/>
          <p:cNvCxnSpPr>
            <a:stCxn id="95" idx="0"/>
            <a:endCxn id="96" idx="4"/>
          </p:cNvCxnSpPr>
          <p:nvPr/>
        </p:nvCxnSpPr>
        <p:spPr>
          <a:xfrm flipV="1">
            <a:off x="10648951" y="1557338"/>
            <a:ext cx="0" cy="3581400"/>
          </a:xfrm>
          <a:prstGeom prst="straightConnector1">
            <a:avLst/>
          </a:prstGeom>
          <a:ln w="14764">
            <a:solidFill>
              <a:srgbClr val="D9912D"/>
            </a:solidFill>
            <a:prstDash val="solid"/>
          </a:ln>
        </p:spPr>
      </p:cxnSp>
      <p:cxnSp>
        <p:nvCxnSpPr>
          <p:cNvPr id="223" name="직선 화살표 연결선 222"/>
          <p:cNvCxnSpPr>
            <a:stCxn id="96" idx="6"/>
            <a:endCxn id="97" idx="2"/>
          </p:cNvCxnSpPr>
          <p:nvPr/>
        </p:nvCxnSpPr>
        <p:spPr>
          <a:xfrm>
            <a:off x="10653713" y="1552576"/>
            <a:ext cx="200025" cy="0"/>
          </a:xfrm>
          <a:prstGeom prst="straightConnector1">
            <a:avLst/>
          </a:prstGeom>
          <a:ln w="14764">
            <a:solidFill>
              <a:srgbClr val="D9912D"/>
            </a:solidFill>
            <a:prstDash val="solid"/>
            <a:tailEnd type="triangle" w="sm" len="sm"/>
          </a:ln>
        </p:spPr>
      </p:cxnSp>
      <p:sp>
        <p:nvSpPr>
          <p:cNvPr id="101" name="test-to-evaluation-route-0">
            <a:extLst>
              <a:ext uri="{FF2B5EF4-FFF2-40B4-BE49-F238E27FC236}">
                <a16:creationId xmlns:a16="http://schemas.microsoft.com/office/drawing/2014/main" id="{7282E55E-7BC8-4356-B9D6-CEE173757EFD}"/>
              </a:ext>
            </a:extLst>
          </p:cNvPr>
          <p:cNvSpPr>
            <a:spLocks noGrp="1"/>
          </p:cNvSpPr>
          <p:nvPr/>
        </p:nvSpPr>
        <p:spPr>
          <a:xfrm>
            <a:off x="12901613" y="54816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02" name="test-to-evaluation-route-1">
            <a:extLst>
              <a:ext uri="{FF2B5EF4-FFF2-40B4-BE49-F238E27FC236}">
                <a16:creationId xmlns:a16="http://schemas.microsoft.com/office/drawing/2014/main" id="{60ADA399-A201-45C7-A6B8-D41AC49027DC}"/>
              </a:ext>
            </a:extLst>
          </p:cNvPr>
          <p:cNvSpPr>
            <a:spLocks noGrp="1"/>
          </p:cNvSpPr>
          <p:nvPr/>
        </p:nvSpPr>
        <p:spPr>
          <a:xfrm>
            <a:off x="15159038" y="5481638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03" name="test-to-evaluation-route-2">
            <a:extLst>
              <a:ext uri="{FF2B5EF4-FFF2-40B4-BE49-F238E27FC236}">
                <a16:creationId xmlns:a16="http://schemas.microsoft.com/office/drawing/2014/main" id="{7ECC8BB9-B3DD-4502-9353-E889942F19B8}"/>
              </a:ext>
            </a:extLst>
          </p:cNvPr>
          <p:cNvSpPr>
            <a:spLocks noGrp="1"/>
          </p:cNvSpPr>
          <p:nvPr/>
        </p:nvSpPr>
        <p:spPr>
          <a:xfrm>
            <a:off x="15159038" y="154781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04" name="test-to-evaluation-route-3">
            <a:extLst>
              <a:ext uri="{FF2B5EF4-FFF2-40B4-BE49-F238E27FC236}">
                <a16:creationId xmlns:a16="http://schemas.microsoft.com/office/drawing/2014/main" id="{E5D1184C-461F-4925-8D6F-6F760BC0724D}"/>
              </a:ext>
            </a:extLst>
          </p:cNvPr>
          <p:cNvSpPr>
            <a:spLocks noGrp="1"/>
          </p:cNvSpPr>
          <p:nvPr/>
        </p:nvSpPr>
        <p:spPr>
          <a:xfrm>
            <a:off x="15139988" y="1547813"/>
            <a:ext cx="9525" cy="9525"/>
          </a:xfrm>
          <a:prstGeom prst="ellipse">
            <a:avLst/>
          </a:prstGeom>
          <a:noFill/>
          <a:ln w="0">
            <a:noFill/>
            <a:prstDash val="solid"/>
          </a:ln>
        </p:spPr>
      </p:sp>
      <p:cxnSp>
        <p:nvCxnSpPr>
          <p:cNvPr id="228" name="직선 화살표 연결선 227"/>
          <p:cNvCxnSpPr>
            <a:stCxn id="101" idx="6"/>
            <a:endCxn id="102" idx="2"/>
          </p:cNvCxnSpPr>
          <p:nvPr/>
        </p:nvCxnSpPr>
        <p:spPr>
          <a:xfrm>
            <a:off x="12911138" y="5486401"/>
            <a:ext cx="2247900" cy="0"/>
          </a:xfrm>
          <a:prstGeom prst="straightConnector1">
            <a:avLst/>
          </a:prstGeom>
          <a:ln w="14764">
            <a:solidFill>
              <a:srgbClr val="3D949B"/>
            </a:solidFill>
            <a:prstDash val="solid"/>
          </a:ln>
        </p:spPr>
      </p:cxnSp>
      <p:cxnSp>
        <p:nvCxnSpPr>
          <p:cNvPr id="229" name="직선 화살표 연결선 228"/>
          <p:cNvCxnSpPr/>
          <p:nvPr/>
        </p:nvCxnSpPr>
        <p:spPr>
          <a:xfrm flipV="1">
            <a:off x="15201900" y="1581150"/>
            <a:ext cx="3367" cy="3925695"/>
          </a:xfrm>
          <a:prstGeom prst="straightConnector1">
            <a:avLst/>
          </a:prstGeom>
          <a:ln w="14764">
            <a:solidFill>
              <a:srgbClr val="3D949B"/>
            </a:solidFill>
            <a:prstDash val="solid"/>
          </a:ln>
        </p:spPr>
      </p:cxnSp>
      <p:cxnSp>
        <p:nvCxnSpPr>
          <p:cNvPr id="230" name="직선 화살표 연결선 229"/>
          <p:cNvCxnSpPr>
            <a:stCxn id="103" idx="2"/>
            <a:endCxn id="104" idx="6"/>
          </p:cNvCxnSpPr>
          <p:nvPr/>
        </p:nvCxnSpPr>
        <p:spPr>
          <a:xfrm flipH="1">
            <a:off x="15149513" y="1552576"/>
            <a:ext cx="9525" cy="0"/>
          </a:xfrm>
          <a:prstGeom prst="straightConnector1">
            <a:avLst/>
          </a:prstGeom>
          <a:ln w="14764">
            <a:solidFill>
              <a:srgbClr val="3D949B"/>
            </a:solidFill>
            <a:prstDash val="solid"/>
            <a:tailEnd type="triangle" w="sm" len="sm"/>
          </a:ln>
        </p:spPr>
      </p:cxnSp>
      <p:sp>
        <p:nvSpPr>
          <p:cNvPr id="108" name="method-grids-box">
            <a:extLst>
              <a:ext uri="{FF2B5EF4-FFF2-40B4-BE49-F238E27FC236}">
                <a16:creationId xmlns:a16="http://schemas.microsoft.com/office/drawing/2014/main" id="{7D3D6AE1-F269-4E01-9C29-5D67DAB53FD8}"/>
              </a:ext>
            </a:extLst>
          </p:cNvPr>
          <p:cNvSpPr>
            <a:spLocks noGrp="1"/>
          </p:cNvSpPr>
          <p:nvPr/>
        </p:nvSpPr>
        <p:spPr>
          <a:xfrm>
            <a:off x="10858500" y="2857500"/>
            <a:ext cx="1809750" cy="1238250"/>
          </a:xfrm>
          <a:prstGeom prst="roundRect">
            <a:avLst>
              <a:gd name="adj" fmla="val 6923"/>
            </a:avLst>
          </a:prstGeom>
          <a:solidFill>
            <a:srgbClr val="FDE9E7"/>
          </a:solidFill>
          <a:ln w="14288">
            <a:solidFill>
              <a:srgbClr val="C95D55"/>
            </a:solidFill>
            <a:prstDash val="solid"/>
          </a:ln>
        </p:spPr>
      </p:sp>
      <p:sp>
        <p:nvSpPr>
          <p:cNvPr id="109" name="method-grids-title">
            <a:extLst>
              <a:ext uri="{FF2B5EF4-FFF2-40B4-BE49-F238E27FC236}">
                <a16:creationId xmlns:a16="http://schemas.microsoft.com/office/drawing/2014/main" id="{0D9393C1-1E07-4690-8D6D-CDACF3EC4895}"/>
              </a:ext>
            </a:extLst>
          </p:cNvPr>
          <p:cNvSpPr>
            <a:spLocks noGrp="1"/>
          </p:cNvSpPr>
          <p:nvPr/>
        </p:nvSpPr>
        <p:spPr>
          <a:xfrm>
            <a:off x="10925175" y="2924175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968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68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방법별 다중 높이 격자</a:t>
            </a:r>
          </a:p>
        </p:txBody>
      </p:sp>
      <p:sp>
        <p:nvSpPr>
          <p:cNvPr id="110" name="method-grids-body">
            <a:extLst>
              <a:ext uri="{FF2B5EF4-FFF2-40B4-BE49-F238E27FC236}">
                <a16:creationId xmlns:a16="http://schemas.microsoft.com/office/drawing/2014/main" id="{85FC94FF-EDDE-4DC0-A353-FB5368B0177D}"/>
              </a:ext>
            </a:extLst>
          </p:cNvPr>
          <p:cNvSpPr>
            <a:spLocks noGrp="1"/>
          </p:cNvSpPr>
          <p:nvPr/>
        </p:nvSpPr>
        <p:spPr>
          <a:xfrm>
            <a:off x="10934700" y="3181350"/>
            <a:ext cx="165735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28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28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Raw Sionna RT</a:t>
            </a:r>
          </a:p>
          <a:p>
            <a:pPr algn="ctr">
              <a:defRPr sz="728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28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Plain IDW</a:t>
            </a:r>
          </a:p>
          <a:p>
            <a:pPr algn="ctr">
              <a:defRPr sz="728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28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Residual IDW</a:t>
            </a:r>
          </a:p>
          <a:p>
            <a:pPr algn="ctr">
              <a:defRPr sz="728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28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동일 XY 해상도 + 유효성 마스크</a:t>
            </a:r>
          </a:p>
        </p:txBody>
      </p:sp>
      <p:sp>
        <p:nvSpPr>
          <p:cNvPr id="111" name="rf-volume-box">
            <a:extLst>
              <a:ext uri="{FF2B5EF4-FFF2-40B4-BE49-F238E27FC236}">
                <a16:creationId xmlns:a16="http://schemas.microsoft.com/office/drawing/2014/main" id="{CA377462-1330-4250-9296-7717B2D1D367}"/>
              </a:ext>
            </a:extLst>
          </p:cNvPr>
          <p:cNvSpPr>
            <a:spLocks noGrp="1"/>
          </p:cNvSpPr>
          <p:nvPr/>
        </p:nvSpPr>
        <p:spPr>
          <a:xfrm>
            <a:off x="12954000" y="3000375"/>
            <a:ext cx="1047750" cy="952500"/>
          </a:xfrm>
          <a:prstGeom prst="roundRect">
            <a:avLst>
              <a:gd name="adj" fmla="val 9000"/>
            </a:avLst>
          </a:prstGeom>
          <a:solidFill>
            <a:srgbClr val="FDE9E7"/>
          </a:solidFill>
          <a:ln w="14288">
            <a:solidFill>
              <a:srgbClr val="C95D55"/>
            </a:solidFill>
            <a:prstDash val="solid"/>
          </a:ln>
        </p:spPr>
      </p:sp>
      <p:sp>
        <p:nvSpPr>
          <p:cNvPr id="112" name="rf-volume-title">
            <a:extLst>
              <a:ext uri="{FF2B5EF4-FFF2-40B4-BE49-F238E27FC236}">
                <a16:creationId xmlns:a16="http://schemas.microsoft.com/office/drawing/2014/main" id="{9EC8A28A-B6A5-4D7A-8173-E15C2CEAD621}"/>
              </a:ext>
            </a:extLst>
          </p:cNvPr>
          <p:cNvSpPr>
            <a:spLocks noGrp="1"/>
          </p:cNvSpPr>
          <p:nvPr/>
        </p:nvSpPr>
        <p:spPr>
          <a:xfrm>
            <a:off x="13020675" y="3067050"/>
            <a:ext cx="91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2512"/>
          </a:bodyPr>
          <a:lstStyle/>
          <a:p>
            <a:pPr algn="ctr">
              <a:defRPr sz="91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1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3D RF Volume</a:t>
            </a:r>
          </a:p>
        </p:txBody>
      </p:sp>
      <p:sp>
        <p:nvSpPr>
          <p:cNvPr id="113" name="rf-volume-body">
            <a:extLst>
              <a:ext uri="{FF2B5EF4-FFF2-40B4-BE49-F238E27FC236}">
                <a16:creationId xmlns:a16="http://schemas.microsoft.com/office/drawing/2014/main" id="{35043C69-5598-427B-B740-521F60120A49}"/>
              </a:ext>
            </a:extLst>
          </p:cNvPr>
          <p:cNvSpPr>
            <a:spLocks noGrp="1"/>
          </p:cNvSpPr>
          <p:nvPr/>
        </p:nvSpPr>
        <p:spPr>
          <a:xfrm>
            <a:off x="13030200" y="3324225"/>
            <a:ext cx="89535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6개 높이</a:t>
            </a:r>
          </a:p>
          <a:p>
            <a:pPr algn="ctr">
              <a:def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735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방법별 채널</a:t>
            </a:r>
          </a:p>
        </p:txBody>
      </p:sp>
      <p:sp>
        <p:nvSpPr>
          <p:cNvPr id="114" name="viewer-box">
            <a:extLst>
              <a:ext uri="{FF2B5EF4-FFF2-40B4-BE49-F238E27FC236}">
                <a16:creationId xmlns:a16="http://schemas.microsoft.com/office/drawing/2014/main" id="{38025635-FE71-4AC9-B4DC-67A3DDA3D632}"/>
              </a:ext>
            </a:extLst>
          </p:cNvPr>
          <p:cNvSpPr>
            <a:spLocks noGrp="1"/>
          </p:cNvSpPr>
          <p:nvPr/>
        </p:nvSpPr>
        <p:spPr>
          <a:xfrm>
            <a:off x="14239875" y="3000375"/>
            <a:ext cx="904875" cy="952500"/>
          </a:xfrm>
          <a:prstGeom prst="roundRect">
            <a:avLst>
              <a:gd name="adj" fmla="val 9474"/>
            </a:avLst>
          </a:prstGeom>
          <a:solidFill>
            <a:srgbClr val="FDE9E7"/>
          </a:solidFill>
          <a:ln w="14288">
            <a:solidFill>
              <a:srgbClr val="C95D55"/>
            </a:solidFill>
            <a:prstDash val="solid"/>
          </a:ln>
        </p:spPr>
      </p:sp>
      <p:sp>
        <p:nvSpPr>
          <p:cNvPr id="115" name="viewer-title">
            <a:extLst>
              <a:ext uri="{FF2B5EF4-FFF2-40B4-BE49-F238E27FC236}">
                <a16:creationId xmlns:a16="http://schemas.microsoft.com/office/drawing/2014/main" id="{637BCFB7-F414-4448-A4FF-CEB7B22A02CA}"/>
              </a:ext>
            </a:extLst>
          </p:cNvPr>
          <p:cNvSpPr>
            <a:spLocks noGrp="1"/>
          </p:cNvSpPr>
          <p:nvPr/>
        </p:nvSpPr>
        <p:spPr>
          <a:xfrm>
            <a:off x="14306550" y="3067050"/>
            <a:ext cx="7715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654"/>
          </a:bodyPr>
          <a:lstStyle/>
          <a:p>
            <a:pPr algn="ctr">
              <a:defRPr sz="9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SIBR Viewer</a:t>
            </a:r>
          </a:p>
        </p:txBody>
      </p:sp>
      <p:sp>
        <p:nvSpPr>
          <p:cNvPr id="116" name="viewer-body">
            <a:extLst>
              <a:ext uri="{FF2B5EF4-FFF2-40B4-BE49-F238E27FC236}">
                <a16:creationId xmlns:a16="http://schemas.microsoft.com/office/drawing/2014/main" id="{FB7D6B02-2BF0-42F2-927A-035F940CCC93}"/>
              </a:ext>
            </a:extLst>
          </p:cNvPr>
          <p:cNvSpPr>
            <a:spLocks noGrp="1"/>
          </p:cNvSpPr>
          <p:nvPr/>
        </p:nvSpPr>
        <p:spPr>
          <a:xfrm>
            <a:off x="14316075" y="3324225"/>
            <a:ext cx="75247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20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680" b="0" dirty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Gaussian + RF</a:t>
            </a:r>
          </a:p>
          <a:p>
            <a:pPr algn="ctr">
              <a:defRPr sz="720" b="0">
                <a:solidFill>
                  <a:srgbClr val="607087"/>
                </a:solidFill>
                <a:latin typeface="Malgun Gothic"/>
                <a:ea typeface="Malgun Gothic"/>
                <a:cs typeface="Malgun Gothic"/>
              </a:defRPr>
            </a:pPr>
            <a:r>
              <a:rPr sz="680" b="0" dirty="0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Mesh-depth </a:t>
            </a:r>
            <a:r>
              <a:rPr sz="680" b="0" dirty="0" err="1">
                <a:solidFill>
                  <a:srgbClr val="607087"/>
                </a:solidFill>
                <a:latin typeface="Malgun Gothic"/>
                <a:ea typeface="Malgun Gothic"/>
                <a:cs typeface="Malgun Gothic"/>
              </a:rPr>
              <a:t>가림</a:t>
            </a:r>
            <a:endParaRPr sz="680" b="0" dirty="0">
              <a:solidFill>
                <a:srgbClr val="607087"/>
              </a:solidFill>
              <a:latin typeface="Malgun Gothic"/>
              <a:ea typeface="Malgun Gothic"/>
              <a:cs typeface="Malgun Gothic"/>
            </a:endParaRPr>
          </a:p>
        </p:txBody>
      </p:sp>
      <p:cxnSp>
        <p:nvCxnSpPr>
          <p:cNvPr id="240" name="꺾인 연결선 239"/>
          <p:cNvCxnSpPr>
            <a:stCxn id="35" idx="3"/>
            <a:endCxn id="108" idx="1"/>
          </p:cNvCxnSpPr>
          <p:nvPr/>
        </p:nvCxnSpPr>
        <p:spPr>
          <a:xfrm>
            <a:off x="10525125" y="2143125"/>
            <a:ext cx="333375" cy="1333500"/>
          </a:xfrm>
          <a:prstGeom prst="bentConnector3">
            <a:avLst>
              <a:gd name="adj1" fmla="val 50000"/>
            </a:avLst>
          </a:prstGeom>
          <a:ln w="14764">
            <a:solidFill>
              <a:srgbClr val="40536B"/>
            </a:solidFill>
            <a:prstDash val="solid"/>
            <a:tailEnd type="triangle" w="sm" len="sm"/>
          </a:ln>
        </p:spPr>
      </p:cxnSp>
      <p:cxnSp>
        <p:nvCxnSpPr>
          <p:cNvPr id="241" name="직선 화살표 연결선 240"/>
          <p:cNvCxnSpPr>
            <a:stCxn id="82" idx="2"/>
            <a:endCxn id="108" idx="0"/>
          </p:cNvCxnSpPr>
          <p:nvPr/>
        </p:nvCxnSpPr>
        <p:spPr>
          <a:xfrm>
            <a:off x="11763375" y="2228850"/>
            <a:ext cx="0" cy="628650"/>
          </a:xfrm>
          <a:prstGeom prst="straightConnector1">
            <a:avLst/>
          </a:prstGeom>
          <a:ln w="14764">
            <a:solidFill>
              <a:srgbClr val="40536B"/>
            </a:solidFill>
            <a:prstDash val="solid"/>
            <a:tailEnd type="triangle" w="sm" len="sm"/>
          </a:ln>
        </p:spPr>
      </p:cxnSp>
      <p:cxnSp>
        <p:nvCxnSpPr>
          <p:cNvPr id="242" name="직선 화살표 연결선 241"/>
          <p:cNvCxnSpPr>
            <a:stCxn id="108" idx="3"/>
            <a:endCxn id="111" idx="1"/>
          </p:cNvCxnSpPr>
          <p:nvPr/>
        </p:nvCxnSpPr>
        <p:spPr>
          <a:xfrm>
            <a:off x="12668250" y="3476625"/>
            <a:ext cx="285750" cy="0"/>
          </a:xfrm>
          <a:prstGeom prst="straightConnector1">
            <a:avLst/>
          </a:prstGeom>
          <a:ln w="14764">
            <a:solidFill>
              <a:srgbClr val="40536B"/>
            </a:solidFill>
            <a:prstDash val="solid"/>
            <a:tailEnd type="triangle" w="sm" len="sm"/>
          </a:ln>
        </p:spPr>
      </p:cxnSp>
      <p:cxnSp>
        <p:nvCxnSpPr>
          <p:cNvPr id="243" name="직선 화살표 연결선 242"/>
          <p:cNvCxnSpPr>
            <a:stCxn id="111" idx="3"/>
            <a:endCxn id="114" idx="1"/>
          </p:cNvCxnSpPr>
          <p:nvPr/>
        </p:nvCxnSpPr>
        <p:spPr>
          <a:xfrm>
            <a:off x="14001750" y="3476625"/>
            <a:ext cx="238125" cy="0"/>
          </a:xfrm>
          <a:prstGeom prst="straightConnector1">
            <a:avLst/>
          </a:prstGeom>
          <a:ln w="14764">
            <a:solidFill>
              <a:srgbClr val="40536B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40221766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318</Words>
  <Application>Microsoft Office PowerPoint</Application>
  <DocSecurity>0</DocSecurity>
  <PresentationFormat>사용자 지정</PresentationFormat>
  <Paragraphs>90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Malgun Gothic</vt:lpstr>
      <vt:lpstr>Calibri</vt:lpstr>
      <vt:lpstr>ChatGPT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2</cp:revision>
  <dcterms:created xsi:type="dcterms:W3CDTF">2026-09-10T15:21:46Z</dcterms:created>
  <dcterms:modified xsi:type="dcterms:W3CDTF">2026-09-10T15:31:55Z</dcterms:modified>
</cp:coreProperties>
</file>