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61" r:id="rId2"/>
  </p:sldIdLst>
  <p:sldSz cx="21383625" cy="30275213"/>
  <p:notesSz cx="6858000" cy="9144000"/>
  <p:embeddedFontLst>
    <p:embeddedFont>
      <p:font typeface="Arial Black" panose="020B0A04020102020204" pitchFamily="34" charset="0"/>
      <p:bold r:id="rId3"/>
    </p:embeddedFont>
    <p:embeddedFont>
      <p:font typeface="Franklin Gothic Demi" panose="020B0703020102020204" pitchFamily="34" charset="0"/>
      <p:regular r:id="rId4"/>
      <p:italic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51" userDrawn="1">
          <p15:clr>
            <a:srgbClr val="A4A3A4"/>
          </p15:clr>
        </p15:guide>
        <p15:guide id="2" pos="6735" userDrawn="1">
          <p15:clr>
            <a:srgbClr val="A4A3A4"/>
          </p15:clr>
        </p15:guide>
        <p15:guide id="3" orient="horz" pos="145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213"/>
    <a:srgbClr val="FFFFFF"/>
    <a:srgbClr val="ED7D31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2526" y="-492"/>
      </p:cViewPr>
      <p:guideLst>
        <p:guide orient="horz" pos="8651"/>
        <p:guide pos="6735"/>
        <p:guide orient="horz" pos="145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0216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76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/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75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75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83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91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1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11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523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79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04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34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5261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68C2B-BE6A-4123-B1EB-3B148078ED94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A5EE4-1B2F-4824-B0C8-6C1DBF8DD7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52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8324" rtl="0" eaLnBrk="1" latinLnBrk="1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1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1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1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0" y="0"/>
            <a:ext cx="21383625" cy="6162727"/>
            <a:chOff x="0" y="0"/>
            <a:chExt cx="21383625" cy="616272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1383625" cy="6162727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7099300" y="4254500"/>
              <a:ext cx="1845377" cy="400110"/>
            </a:xfrm>
            <a:prstGeom prst="rect">
              <a:avLst/>
            </a:prstGeom>
            <a:noFill/>
          </p:spPr>
          <p:txBody>
            <a:bodyPr wrap="square" rtlCol="0" lIns="43200" rIns="43200" tIns="18000" bIns="1800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500" b="1">
                  <a:solidFill>
                    <a:srgbClr val="4B5563"/>
                  </a:solidFill>
                  <a:latin typeface="Noto Sans CJK KR"/>
                </a:rPr>
                <a:t>이거왜됨연구회</a:t>
              </a:r>
              <a:endParaRPr lang="ko-KR" altLang="en-US" sz="2000" b="1" spc="-15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275300" y="4254500"/>
              <a:ext cx="954107" cy="400110"/>
            </a:xfrm>
            <a:prstGeom prst="rect">
              <a:avLst/>
            </a:prstGeom>
            <a:noFill/>
          </p:spPr>
          <p:txBody>
            <a:bodyPr wrap="square" rtlCol="0" lIns="43200" rIns="43200" tIns="18000" bIns="1800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500" b="1">
                  <a:solidFill>
                    <a:srgbClr val="4B5563"/>
                  </a:solidFill>
                  <a:latin typeface="Noto Sans CJK KR"/>
                </a:rPr>
                <a:t>박영진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09300" y="4254500"/>
              <a:ext cx="2739853" cy="400110"/>
            </a:xfrm>
            <a:prstGeom prst="rect">
              <a:avLst/>
            </a:prstGeom>
            <a:noFill/>
          </p:spPr>
          <p:txBody>
            <a:bodyPr wrap="square" rtlCol="0" lIns="43200" rIns="43200" tIns="18000" bIns="1800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500" b="1">
                  <a:solidFill>
                    <a:srgbClr val="4B5563"/>
                  </a:solidFill>
                  <a:latin typeface="Noto Sans CJK KR"/>
                </a:rPr>
                <a:t>이승우, 강주호, 이나영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72000" y="1296000"/>
              <a:ext cx="15480000" cy="21960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Noto Sans CJK KR"/>
                </a:rPr>
                <a:t>RFVisualizer</a:t>
              </a:r>
              <a:endParaRPr lang="en-US" altLang="ko-KR" sz="6000" b="1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ctr"/>
              <a:r>
                <a:rPr sz="1800" b="1">
                  <a:solidFill>
                    <a:srgbClr val="FFFFFF"/>
                  </a:solidFill>
                  <a:latin typeface="Noto Sans CJK KR"/>
                </a:rPr>
                <a:t>사진 기반 실내 복원·실측 보정 3D Wi-Fi 신호 시각화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786715" y="1022377"/>
              <a:ext cx="2667590" cy="2646878"/>
            </a:xfrm>
            <a:prstGeom prst="rect">
              <a:avLst/>
            </a:prstGeom>
            <a:noFill/>
          </p:spPr>
          <p:txBody>
            <a:bodyPr wrap="square" rtlCol="0" lIns="43200" rIns="43200" tIns="18000" bIns="18000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6200" b="0">
                  <a:solidFill>
                    <a:srgbClr val="FFFFFF"/>
                  </a:solidFill>
                  <a:latin typeface="Noto Sans CJK KR"/>
                </a:rPr>
                <a:t>16</a:t>
              </a:r>
              <a:endParaRPr lang="ko-KR" altLang="en-US" sz="1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anose="020B0703020102020204" pitchFamily="34" charset="0"/>
                <a:ea typeface="+mj-ea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20000" y="5400606"/>
              <a:ext cx="5544000" cy="584775"/>
            </a:xfrm>
            <a:prstGeom prst="rect">
              <a:avLst/>
            </a:prstGeom>
            <a:noFill/>
          </p:spPr>
          <p:txBody>
            <a:bodyPr wrap="square" rtlCol="0" lIns="43200" rIns="43200" tIns="18000" bIns="1800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2000" b="1">
                  <a:solidFill>
                    <a:srgbClr val="FFFFFF"/>
                  </a:solidFill>
                  <a:latin typeface="Noto Sans CJK KR"/>
                </a:rPr>
                <a:t>문제와 해결 아이디어</a:t>
              </a:r>
              <a:endParaRPr lang="ko-KR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-1" y="13258000"/>
            <a:ext cx="21383625" cy="950925"/>
            <a:chOff x="-1" y="13258000"/>
            <a:chExt cx="21383625" cy="95092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13258000"/>
              <a:ext cx="21383625" cy="950925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7920000" y="13439706"/>
              <a:ext cx="5544000" cy="584775"/>
            </a:xfrm>
            <a:prstGeom prst="rect">
              <a:avLst/>
            </a:prstGeom>
            <a:noFill/>
          </p:spPr>
          <p:txBody>
            <a:bodyPr wrap="square" rtlCol="0" lIns="43200" rIns="43200" tIns="18000" bIns="1800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2000" b="1">
                  <a:solidFill>
                    <a:srgbClr val="FFFFFF"/>
                  </a:solidFill>
                  <a:latin typeface="Noto Sans CJK KR"/>
                </a:rPr>
                <a:t>시스템 구성 및 구현</a:t>
              </a:r>
              <a:endParaRPr lang="ko-KR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-14288" y="22582975"/>
            <a:ext cx="21383625" cy="950925"/>
            <a:chOff x="-14288" y="22582975"/>
            <a:chExt cx="21383625" cy="950925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288" y="22582975"/>
              <a:ext cx="21383625" cy="950925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7920000" y="22774206"/>
              <a:ext cx="5544000" cy="584775"/>
            </a:xfrm>
            <a:prstGeom prst="rect">
              <a:avLst/>
            </a:prstGeom>
            <a:noFill/>
          </p:spPr>
          <p:txBody>
            <a:bodyPr wrap="square" rtlCol="0" lIns="43200" rIns="43200" tIns="18000" bIns="1800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2000" b="1">
                  <a:solidFill>
                    <a:srgbClr val="FFFFFF"/>
                  </a:solidFill>
                  <a:latin typeface="Noto Sans CJK KR"/>
                </a:rPr>
                <a:t>결과와 검증 범위</a:t>
              </a:r>
              <a:endParaRPr lang="ko-KR" altLang="en-US" sz="3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0" y="28367267"/>
            <a:ext cx="21383625" cy="1907946"/>
            <a:chOff x="0" y="28367267"/>
            <a:chExt cx="21383625" cy="1907946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8367267"/>
              <a:ext cx="21383625" cy="1907946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580574" y="28767317"/>
              <a:ext cx="1140056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lIns="43200" rIns="43200" tIns="18000" bIns="18000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800" b="0">
                  <a:solidFill>
                    <a:srgbClr val="828282"/>
                  </a:solidFill>
                  <a:latin typeface="Noto Sans CJK KR"/>
                </a:rPr>
                <a:t>2026</a:t>
              </a:r>
              <a:endParaRPr lang="ko-KR" altLang="en-US" sz="2800" dirty="0">
                <a:solidFill>
                  <a:schemeClr val="bg1">
                    <a:lumMod val="50000"/>
                  </a:schemeClr>
                </a:solidFill>
                <a:latin typeface="Arial Black" panose="020B0A04020102020204" pitchFamily="34" charset="0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4268450" y="28651200"/>
            <a:ext cx="2800350" cy="10668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4B5563"/>
                </a:solidFill>
                <a:latin typeface="Noto Sans CJK KR"/>
              </a:rPr>
              <a:t>DEMO QR
삽입</a:t>
            </a:r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756000" y="6480000"/>
            <a:ext cx="5940000" cy="46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B4332"/>
                </a:solidFill>
                <a:latin typeface="Noto Sans CJK KR"/>
              </a:rPr>
              <a:t>왜 필요한가?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000" y="7092000"/>
            <a:ext cx="6012000" cy="108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4B5563"/>
                </a:solidFill>
                <a:latin typeface="Noto Sans CJK KR"/>
              </a:rPr>
              <a:t>2D 신호 지도만으로는 신호가 약한 위치와
그 위치의 벽·복도 구조를 함께 이해하기 어렵습니다.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2000" y="8352000"/>
            <a:ext cx="2340000" cy="378000"/>
          </a:xfrm>
          <a:prstGeom prst="roundRect">
            <a:avLst/>
          </a:prstGeom>
          <a:solidFill>
            <a:srgbClr val="4B5563"/>
          </a:solidFill>
          <a:ln w="1524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기존 2D 지도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000" y="8856000"/>
            <a:ext cx="5832000" cy="2412000"/>
          </a:xfrm>
          <a:prstGeom prst="roundRect">
            <a:avLst/>
          </a:prstGeom>
          <a:solidFill>
            <a:srgbClr val="EFF2F4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188000" y="9180000"/>
            <a:ext cx="4895999" cy="0"/>
          </a:xfrm>
          <a:prstGeom prst="line">
            <a:avLst/>
          </a:prstGeom>
          <a:ln w="38100">
            <a:solidFill>
              <a:srgbClr val="7E8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88000" y="9972000"/>
            <a:ext cx="3564000" cy="0"/>
          </a:xfrm>
          <a:prstGeom prst="line">
            <a:avLst/>
          </a:prstGeom>
          <a:ln w="38100">
            <a:solidFill>
              <a:srgbClr val="7E8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232000" y="9180000"/>
            <a:ext cx="0" cy="1728000"/>
          </a:xfrm>
          <a:prstGeom prst="line">
            <a:avLst/>
          </a:prstGeom>
          <a:ln w="38100">
            <a:solidFill>
              <a:srgbClr val="7E8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2000" y="9972000"/>
            <a:ext cx="0" cy="936000"/>
          </a:xfrm>
          <a:prstGeom prst="line">
            <a:avLst/>
          </a:prstGeom>
          <a:ln w="38100">
            <a:solidFill>
              <a:srgbClr val="7E8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548000" y="9540000"/>
            <a:ext cx="594000" cy="594000"/>
          </a:xfrm>
          <a:prstGeom prst="ellipse">
            <a:avLst/>
          </a:prstGeom>
          <a:solidFill>
            <a:srgbClr val="3EA65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강</a:t>
            </a:r>
          </a:p>
        </p:txBody>
      </p:sp>
      <p:sp>
        <p:nvSpPr>
          <p:cNvPr id="39" name="Oval 38"/>
          <p:cNvSpPr/>
          <p:nvPr/>
        </p:nvSpPr>
        <p:spPr>
          <a:xfrm>
            <a:off x="3240000" y="10080000"/>
            <a:ext cx="594000" cy="594000"/>
          </a:xfrm>
          <a:prstGeom prst="ellipse">
            <a:avLst/>
          </a:prstGeom>
          <a:solidFill>
            <a:srgbClr val="F5C1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중</a:t>
            </a:r>
          </a:p>
        </p:txBody>
      </p:sp>
      <p:sp>
        <p:nvSpPr>
          <p:cNvPr id="40" name="Oval 39"/>
          <p:cNvSpPr/>
          <p:nvPr/>
        </p:nvSpPr>
        <p:spPr>
          <a:xfrm>
            <a:off x="5112000" y="10368000"/>
            <a:ext cx="594000" cy="594000"/>
          </a:xfrm>
          <a:prstGeom prst="ellipse">
            <a:avLst/>
          </a:prstGeom>
          <a:solidFill>
            <a:srgbClr val="DA4E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2000" y="11340000"/>
            <a:ext cx="5832000" cy="46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신호 세기는 보이지만 공간 구조는 단순함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72000" y="6480000"/>
            <a:ext cx="2880000" cy="378000"/>
          </a:xfrm>
          <a:prstGeom prst="roundRect">
            <a:avLst/>
          </a:prstGeom>
          <a:solidFill>
            <a:srgbClr val="27AE3F"/>
          </a:solidFill>
          <a:ln w="15240">
            <a:solidFill>
              <a:srgbClr val="27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제안 시스템</a:t>
            </a:r>
          </a:p>
        </p:txBody>
      </p:sp>
      <p:sp>
        <p:nvSpPr>
          <p:cNvPr id="43" name="PLACEHOLDER_최종 3D 통합 화면 삽입"/>
          <p:cNvSpPr/>
          <p:nvPr/>
        </p:nvSpPr>
        <p:spPr>
          <a:xfrm>
            <a:off x="7272000" y="6983999"/>
            <a:ext cx="13320000" cy="4284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5A975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/>
          <a:lstStyle/>
          <a:p>
            <a:pPr algn="ctr"/>
            <a:r>
              <a:rPr sz="1800" b="1">
                <a:solidFill>
                  <a:srgbClr val="1B4332"/>
                </a:solidFill>
                <a:latin typeface="Noto Sans CJK KR"/>
              </a:rPr>
              <a:t>최종 3D 통합 화면 삽입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B5563"/>
                </a:solidFill>
                <a:latin typeface="Noto Sans CJK KR"/>
              </a:rPr>
              <a:t>실제 3층 링 복도 Viewer 캡처 · RF 볼륨이 보이는 장면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96000" y="11376000"/>
            <a:ext cx="12672000" cy="46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B4332"/>
                </a:solidFill>
                <a:latin typeface="Noto Sans CJK KR"/>
              </a:rPr>
              <a:t>사진으로 복원한 공간 안에서 Wi-Fi 신호 분포를 높이별로 확인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000" y="11987999"/>
            <a:ext cx="4572000" cy="954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E1F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0000" y="12186000"/>
            <a:ext cx="522000" cy="522000"/>
          </a:xfrm>
          <a:prstGeom prst="ellipse">
            <a:avLst/>
          </a:prstGeom>
          <a:solidFill>
            <a:srgbClr val="27AE3F"/>
          </a:solidFill>
          <a:ln>
            <a:solidFill>
              <a:srgbClr val="27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84000" y="12114000"/>
            <a:ext cx="3780000" cy="28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B4332"/>
                </a:solidFill>
                <a:latin typeface="Noto Sans CJK KR"/>
              </a:rPr>
              <a:t>사진 촬영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84000" y="12437999"/>
            <a:ext cx="3780000" cy="251999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복도 영상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72000" y="12456000"/>
            <a:ext cx="431999" cy="0"/>
          </a:xfrm>
          <a:prstGeom prst="line">
            <a:avLst/>
          </a:prstGeom>
          <a:ln w="27940">
            <a:solidFill>
              <a:srgbClr val="27A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012000" y="11987999"/>
            <a:ext cx="4572000" cy="954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E1F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138000" y="12186000"/>
            <a:ext cx="522000" cy="522000"/>
          </a:xfrm>
          <a:prstGeom prst="ellipse">
            <a:avLst/>
          </a:prstGeom>
          <a:solidFill>
            <a:srgbClr val="27AE3F"/>
          </a:solidFill>
          <a:ln>
            <a:solidFill>
              <a:srgbClr val="27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2000" y="12114000"/>
            <a:ext cx="3780000" cy="28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B4332"/>
                </a:solidFill>
                <a:latin typeface="Noto Sans CJK KR"/>
              </a:rPr>
              <a:t>3D 공간 복원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32000" y="12437999"/>
            <a:ext cx="3780000" cy="251999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사진 기반 장면·표면 모델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620000" y="12456000"/>
            <a:ext cx="432000" cy="0"/>
          </a:xfrm>
          <a:prstGeom prst="line">
            <a:avLst/>
          </a:prstGeom>
          <a:ln w="27940">
            <a:solidFill>
              <a:srgbClr val="27A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1159999" y="11987999"/>
            <a:ext cx="4572000" cy="954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E1F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86000" y="12186000"/>
            <a:ext cx="522000" cy="522000"/>
          </a:xfrm>
          <a:prstGeom prst="ellipse">
            <a:avLst/>
          </a:prstGeom>
          <a:solidFill>
            <a:srgbClr val="27AE3F"/>
          </a:solidFill>
          <a:ln>
            <a:solidFill>
              <a:srgbClr val="27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80000" y="12114000"/>
            <a:ext cx="3780000" cy="28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B4332"/>
                </a:solidFill>
                <a:latin typeface="Noto Sans CJK KR"/>
              </a:rPr>
              <a:t>신호 예측·보정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880000" y="12437999"/>
            <a:ext cx="3780000" cy="251999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시뮬레이션+실측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5767999" y="12456000"/>
            <a:ext cx="432000" cy="0"/>
          </a:xfrm>
          <a:prstGeom prst="line">
            <a:avLst/>
          </a:prstGeom>
          <a:ln w="27940">
            <a:solidFill>
              <a:srgbClr val="27A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16307999" y="11987999"/>
            <a:ext cx="4572000" cy="954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E1F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434000" y="12186000"/>
            <a:ext cx="522000" cy="522000"/>
          </a:xfrm>
          <a:prstGeom prst="ellipse">
            <a:avLst/>
          </a:prstGeom>
          <a:solidFill>
            <a:srgbClr val="27AE3F"/>
          </a:solidFill>
          <a:ln>
            <a:solidFill>
              <a:srgbClr val="27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028000" y="12114000"/>
            <a:ext cx="3780000" cy="28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B4332"/>
                </a:solidFill>
                <a:latin typeface="Noto Sans CJK KR"/>
              </a:rPr>
              <a:t>현장 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028000" y="12437999"/>
            <a:ext cx="3780000" cy="251999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Viewer+핸드헬드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0000" y="14472000"/>
            <a:ext cx="6480000" cy="777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7999" y="14724000"/>
            <a:ext cx="5903999" cy="45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B4332"/>
                </a:solidFill>
                <a:latin typeface="Noto Sans CJK KR"/>
              </a:rPr>
              <a:t>01  공간 복원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7999" y="15192000"/>
            <a:ext cx="5903999" cy="324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5A9753"/>
                </a:solidFill>
                <a:latin typeface="Noto Sans CJK KR"/>
              </a:rPr>
              <a:t>사진 → 3D 장면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7999" y="21168000"/>
            <a:ext cx="5903999" cy="792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4B5563"/>
                </a:solidFill>
                <a:latin typeface="Noto Sans CJK KR"/>
              </a:rPr>
              <a:t>사진 기반 3D 장면과 전파 계산용
단순 공간 모델을 같은 좌표에 배치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52000" y="14472000"/>
            <a:ext cx="6480000" cy="777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40000" y="14724000"/>
            <a:ext cx="5903999" cy="45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B4332"/>
                </a:solidFill>
                <a:latin typeface="Noto Sans CJK KR"/>
              </a:rPr>
              <a:t>02  예측 + 실측 보정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40000" y="15192000"/>
            <a:ext cx="5903999" cy="324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5A9753"/>
                </a:solidFill>
                <a:latin typeface="Noto Sans CJK KR"/>
              </a:rPr>
              <a:t>전파 계산 → 위치별 보정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40000" y="21168000"/>
            <a:ext cx="5903999" cy="792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4B5563"/>
                </a:solidFill>
                <a:latin typeface="Noto Sans CJK KR"/>
              </a:rPr>
              <a:t>Sionna RT 예측에 4개 보정 지점의
실측 차이를 더해 공간별 오차를 보정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4184000" y="14472000"/>
            <a:ext cx="6480000" cy="777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471999" y="14724000"/>
            <a:ext cx="5903999" cy="45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1B4332"/>
                </a:solidFill>
                <a:latin typeface="Noto Sans CJK KR"/>
              </a:rPr>
              <a:t>03  3D 표시 + 조작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471999" y="15192000"/>
            <a:ext cx="5903999" cy="324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5A9753"/>
                </a:solidFill>
                <a:latin typeface="Noto Sans CJK KR"/>
              </a:rPr>
              <a:t>RF 볼륨 → 휴대형 확인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471999" y="21168000"/>
            <a:ext cx="5903999" cy="792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4B5563"/>
                </a:solidFill>
                <a:latin typeface="Noto Sans CJK KR"/>
              </a:rPr>
              <a:t>여섯 높이의 신호 단면을 3D로 표시
기울기 센서와 버튼으로 시점·높이 조작</a:t>
            </a:r>
          </a:p>
        </p:txBody>
      </p:sp>
      <p:sp>
        <p:nvSpPr>
          <p:cNvPr id="76" name="PLACEHOLDER_복원·공간 모델 비교 이미지"/>
          <p:cNvSpPr/>
          <p:nvPr/>
        </p:nvSpPr>
        <p:spPr>
          <a:xfrm>
            <a:off x="1007999" y="15840000"/>
            <a:ext cx="5903999" cy="4968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5A975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/>
          <a:lstStyle/>
          <a:p>
            <a:pPr algn="ctr"/>
            <a:r>
              <a:rPr sz="1800" b="1">
                <a:solidFill>
                  <a:srgbClr val="1B4332"/>
                </a:solidFill>
                <a:latin typeface="Noto Sans CJK KR"/>
              </a:rPr>
              <a:t>복원·공간 모델 비교 이미지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B5563"/>
                </a:solidFill>
                <a:latin typeface="Noto Sans CJK KR"/>
              </a:rPr>
              <a:t>좌: 실제 3D 복원  |  우: 닫힌 전파 계산 모델</a:t>
            </a:r>
          </a:p>
        </p:txBody>
      </p:sp>
      <p:sp>
        <p:nvSpPr>
          <p:cNvPr id="77" name="PLACEHOLDER_예측 수신 전력 지도"/>
          <p:cNvSpPr/>
          <p:nvPr/>
        </p:nvSpPr>
        <p:spPr>
          <a:xfrm>
            <a:off x="7740000" y="15840000"/>
            <a:ext cx="5903999" cy="2700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5A975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/>
          <a:lstStyle/>
          <a:p>
            <a:pPr algn="ctr"/>
            <a:r>
              <a:rPr sz="1800" b="1">
                <a:solidFill>
                  <a:srgbClr val="1B4332"/>
                </a:solidFill>
                <a:latin typeface="Noto Sans CJK KR"/>
              </a:rPr>
              <a:t>예측 수신 전력 지도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B5563"/>
                </a:solidFill>
                <a:latin typeface="Noto Sans CJK KR"/>
              </a:rPr>
              <a:t>3층 링 복도 · 0.45 m 평면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36000" y="18792000"/>
            <a:ext cx="5112000" cy="378000"/>
          </a:xfrm>
          <a:prstGeom prst="roundRect">
            <a:avLst/>
          </a:prstGeom>
          <a:solidFill>
            <a:srgbClr val="3A7CA5"/>
          </a:solidFill>
          <a:ln w="15240"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보정 결과 = 전파 예측 + 위치별 차이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20000" y="19368000"/>
            <a:ext cx="5544000" cy="118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4B5563"/>
                </a:solidFill>
                <a:latin typeface="Noto Sans CJK KR"/>
              </a:rPr>
              <a:t>실측 5대
보정 지점 4개
평가 위치 10개 × 정·역</a:t>
            </a:r>
          </a:p>
        </p:txBody>
      </p:sp>
      <p:sp>
        <p:nvSpPr>
          <p:cNvPr id="80" name="PLACEHOLDER_실제 ESP32-S3 기기 사진"/>
          <p:cNvSpPr/>
          <p:nvPr/>
        </p:nvSpPr>
        <p:spPr>
          <a:xfrm>
            <a:off x="14472000" y="15840000"/>
            <a:ext cx="5903999" cy="3311999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5A975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/>
          <a:lstStyle/>
          <a:p>
            <a:pPr algn="ctr"/>
            <a:r>
              <a:rPr sz="1800" b="1">
                <a:solidFill>
                  <a:srgbClr val="1B4332"/>
                </a:solidFill>
                <a:latin typeface="Noto Sans CJK KR"/>
              </a:rPr>
              <a:t>실제 ESP32-S3 기기 사진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4B5563"/>
                </a:solidFill>
                <a:latin typeface="Noto Sans CJK KR"/>
              </a:rPr>
              <a:t>LCD 화면과 IMU·버튼이 보이는 사진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4544000" y="19440000"/>
            <a:ext cx="1782000" cy="1152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E1F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616000" y="19602000"/>
            <a:ext cx="163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B4332"/>
                </a:solidFill>
                <a:latin typeface="Noto Sans CJK KR"/>
              </a:rPr>
              <a:t>기울이기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4616000" y="19926000"/>
            <a:ext cx="163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4B5563"/>
                </a:solidFill>
                <a:latin typeface="Noto Sans CJK KR"/>
              </a:rPr>
              <a:t>카메라 회전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6506000" y="19440000"/>
            <a:ext cx="1782000" cy="1152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E1F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578000" y="19602000"/>
            <a:ext cx="163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B4332"/>
                </a:solidFill>
                <a:latin typeface="Noto Sans CJK KR"/>
              </a:rPr>
              <a:t>텔레포트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578000" y="19926000"/>
            <a:ext cx="163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4B5563"/>
                </a:solidFill>
                <a:latin typeface="Noto Sans CJK KR"/>
              </a:rPr>
              <a:t>조준 후 이동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8468000" y="19440000"/>
            <a:ext cx="1782000" cy="1152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E1F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8540000" y="19602000"/>
            <a:ext cx="163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B4332"/>
                </a:solidFill>
                <a:latin typeface="Noto Sans CJK KR"/>
              </a:rPr>
              <a:t>높이 전환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8540000" y="19926000"/>
            <a:ext cx="163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4B5563"/>
                </a:solidFill>
                <a:latin typeface="Noto Sans CJK KR"/>
              </a:rPr>
              <a:t>RF 단면 변경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6000" y="23795999"/>
            <a:ext cx="8640000" cy="396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B4332"/>
                </a:solidFill>
                <a:latin typeface="Noto Sans CJK KR"/>
              </a:rPr>
              <a:t>예측 오차 비교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56000" y="24228000"/>
            <a:ext cx="9000000" cy="324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MAE(dB) · 낮을수록 좋음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2000" y="24714000"/>
            <a:ext cx="172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원시 예측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664000" y="24724800"/>
            <a:ext cx="5134080" cy="259200"/>
          </a:xfrm>
          <a:prstGeom prst="rect">
            <a:avLst/>
          </a:prstGeom>
          <a:solidFill>
            <a:srgbClr val="909C94"/>
          </a:solidFill>
          <a:ln w="15240">
            <a:solidFill>
              <a:srgbClr val="909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906080" y="24706800"/>
            <a:ext cx="792000" cy="28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909C94"/>
                </a:solidFill>
                <a:latin typeface="Noto Sans CJK KR"/>
              </a:rPr>
              <a:t>7.64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2000" y="25344000"/>
            <a:ext cx="172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일반 보간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64000" y="25354800"/>
            <a:ext cx="3581760" cy="259200"/>
          </a:xfrm>
          <a:prstGeom prst="rect">
            <a:avLst/>
          </a:prstGeom>
          <a:solidFill>
            <a:srgbClr val="68B16F"/>
          </a:solidFill>
          <a:ln w="15240">
            <a:solidFill>
              <a:srgbClr val="68B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53760" y="25336800"/>
            <a:ext cx="792000" cy="28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68B16F"/>
                </a:solidFill>
                <a:latin typeface="Noto Sans CJK KR"/>
              </a:rPr>
              <a:t>5.33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92000" y="25974000"/>
            <a:ext cx="172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1">
                <a:solidFill>
                  <a:srgbClr val="4B5563"/>
                </a:solidFill>
                <a:latin typeface="Noto Sans CJK KR"/>
              </a:rPr>
              <a:t>잔차 보정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664000" y="25984800"/>
            <a:ext cx="2291520" cy="259200"/>
          </a:xfrm>
          <a:prstGeom prst="rect">
            <a:avLst/>
          </a:prstGeom>
          <a:solidFill>
            <a:srgbClr val="27AE3F"/>
          </a:solidFill>
          <a:ln w="15240">
            <a:solidFill>
              <a:srgbClr val="27AE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063520" y="25966800"/>
            <a:ext cx="792000" cy="28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7AE3F"/>
                </a:solidFill>
                <a:latin typeface="Noto Sans CJK KR"/>
              </a:rPr>
              <a:t>3.41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2000" y="26604000"/>
            <a:ext cx="1728000" cy="27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r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전역 보정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64000" y="26614800"/>
            <a:ext cx="5550720" cy="259200"/>
          </a:xfrm>
          <a:prstGeom prst="rect">
            <a:avLst/>
          </a:prstGeom>
          <a:solidFill>
            <a:srgbClr val="F09635"/>
          </a:solidFill>
          <a:ln w="15240">
            <a:solidFill>
              <a:srgbClr val="F09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22720" y="26596800"/>
            <a:ext cx="792000" cy="28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09635"/>
                </a:solidFill>
                <a:latin typeface="Noto Sans CJK KR"/>
              </a:rPr>
              <a:t>8.26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476000" y="23760000"/>
            <a:ext cx="4680000" cy="3528000"/>
          </a:xfrm>
          <a:prstGeom prst="roundRect">
            <a:avLst/>
          </a:prstGeom>
          <a:solidFill>
            <a:srgbClr val="F3F9F4"/>
          </a:solidFill>
          <a:ln w="15240">
            <a:solidFill>
              <a:srgbClr val="E1F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0872000" y="24012000"/>
            <a:ext cx="3888000" cy="378000"/>
          </a:xfrm>
          <a:prstGeom prst="roundRect">
            <a:avLst/>
          </a:prstGeom>
          <a:solidFill>
            <a:srgbClr val="5A9753"/>
          </a:solidFill>
          <a:ln w="15240">
            <a:solidFill>
              <a:srgbClr val="5A9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탐색적 평가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728000" y="24552000"/>
            <a:ext cx="4176000" cy="468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1B4332"/>
                </a:solidFill>
                <a:latin typeface="Noto Sans CJK KR"/>
              </a:rPr>
              <a:t>7.64 → 3.41 dB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00000" y="25092000"/>
            <a:ext cx="4031999" cy="503999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7AE3F"/>
                </a:solidFill>
                <a:latin typeface="Noto Sans CJK KR"/>
              </a:rPr>
              <a:t>55.4% 감소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800000" y="25775999"/>
            <a:ext cx="4031999" cy="1116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단일 복도 10개 위치
정·역 20개 반복 관측
독립 시험 성능 아님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660000" y="23795999"/>
            <a:ext cx="4968000" cy="396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B4332"/>
                </a:solidFill>
                <a:latin typeface="Noto Sans CJK KR"/>
              </a:rPr>
              <a:t>실기기 검증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5696000" y="24372000"/>
            <a:ext cx="4860000" cy="324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B4332"/>
                </a:solidFill>
                <a:latin typeface="Noto Sans CJK KR"/>
              </a:rPr>
              <a:t>✓ 영상 스트리밍·LCD 출력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696000" y="24822000"/>
            <a:ext cx="4860000" cy="324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B4332"/>
                </a:solidFill>
                <a:latin typeface="Noto Sans CJK KR"/>
              </a:rPr>
              <a:t>✓ 기울기 센서(IMU)·카메라 회전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696000" y="25272000"/>
            <a:ext cx="4860000" cy="324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B4332"/>
                </a:solidFill>
                <a:latin typeface="Noto Sans CJK KR"/>
              </a:rPr>
              <a:t>✓ 텔레포트 버튼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696000" y="25722000"/>
            <a:ext cx="4860000" cy="324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B4332"/>
                </a:solidFill>
                <a:latin typeface="Noto Sans CJK KR"/>
              </a:rPr>
              <a:t>✓ RF 높이 전환 버튼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5660000" y="26352000"/>
            <a:ext cx="4932000" cy="972000"/>
          </a:xfrm>
          <a:prstGeom prst="roundRect">
            <a:avLst/>
          </a:prstGeom>
          <a:solidFill>
            <a:srgbClr val="EFF2F4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5840000" y="26478000"/>
            <a:ext cx="4572000" cy="684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4B5563"/>
                </a:solidFill>
                <a:latin typeface="Noto Sans CJK KR"/>
              </a:rPr>
              <a:t>미측정: 300초 지속 프레임률·지연·손실
0.45 m 이외 높이는 정성적 시각화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56000" y="27540000"/>
            <a:ext cx="19872000" cy="450000"/>
          </a:xfrm>
          <a:prstGeom prst="rect">
            <a:avLst/>
          </a:prstGeom>
          <a:noFill/>
        </p:spPr>
        <p:txBody>
          <a:bodyPr wrap="square" anchor="t" lIns="43200" rIns="43200" tIns="18000" bIns="180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B4332"/>
                </a:solidFill>
                <a:latin typeface="Noto Sans CJK KR"/>
              </a:rPr>
              <a:t>사진 기반 3D 공간, 전파 예측, 실측 보정, 휴대형 조작을 하나의 시각화 흐름으로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247487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</TotalTime>
  <Words>29</Words>
  <Application>Microsoft Office PowerPoint</Application>
  <PresentationFormat>사용자 지정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Calibri Light</vt:lpstr>
      <vt:lpstr>맑은 고딕</vt:lpstr>
      <vt:lpstr>Arial</vt:lpstr>
      <vt:lpstr>Franklin Gothic Demi</vt:lpstr>
      <vt:lpstr>Calibri</vt:lpstr>
      <vt:lpstr>Arial Black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Seung Woo Lee</cp:lastModifiedBy>
  <cp:revision>38</cp:revision>
  <dcterms:created xsi:type="dcterms:W3CDTF">2019-07-31T07:36:11Z</dcterms:created>
  <dcterms:modified xsi:type="dcterms:W3CDTF">2026-09-07T13:26:53Z</dcterms:modified>
</cp:coreProperties>
</file>