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74" autoAdjust="0"/>
  </p:normalViewPr>
  <p:slideViewPr>
    <p:cSldViewPr snapToGrid="0">
      <p:cViewPr>
        <p:scale>
          <a:sx n="66" d="100"/>
          <a:sy n="66" d="100"/>
        </p:scale>
        <p:origin x="199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MAE</c:v>
          </c:tx>
          <c:spPr>
            <a:solidFill>
              <a:srgbClr val="69B67A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EB9B2"/>
              </a:solidFill>
            </c:spPr>
            <c:extLst>
              <c:ext xmlns:c16="http://schemas.microsoft.com/office/drawing/2014/chart" uri="{C3380CC4-5D6E-409C-BE32-E72D297353CC}">
                <c16:uniqueId val="{00000001-6669-49AB-9BBA-702EC322F154}"/>
              </c:ext>
            </c:extLst>
          </c:dPt>
          <c:dPt>
            <c:idx val="1"/>
            <c:invertIfNegative val="0"/>
            <c:bubble3D val="0"/>
            <c:spPr>
              <a:solidFill>
                <a:srgbClr val="6DB77B"/>
              </a:solidFill>
            </c:spPr>
            <c:extLst>
              <c:ext xmlns:c16="http://schemas.microsoft.com/office/drawing/2014/chart" uri="{C3380CC4-5D6E-409C-BE32-E72D297353CC}">
                <c16:uniqueId val="{00000003-6669-49AB-9BBA-702EC322F154}"/>
              </c:ext>
            </c:extLst>
          </c:dPt>
          <c:dPt>
            <c:idx val="2"/>
            <c:invertIfNegative val="0"/>
            <c:bubble3D val="0"/>
            <c:spPr>
              <a:solidFill>
                <a:srgbClr val="177C2A"/>
              </a:solidFill>
            </c:spPr>
            <c:extLst>
              <c:ext xmlns:c16="http://schemas.microsoft.com/office/drawing/2014/chart" uri="{C3380CC4-5D6E-409C-BE32-E72D297353CC}">
                <c16:uniqueId val="{00000005-6669-49AB-9BBA-702EC322F1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4221A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Sionna RT</c:v>
                </c:pt>
                <c:pt idx="1">
                  <c:v>일반 IDW</c:v>
                </c:pt>
                <c:pt idx="2">
                  <c:v>Residual IDW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7.92</c:v>
                </c:pt>
                <c:pt idx="1">
                  <c:v>5.47</c:v>
                </c:pt>
                <c:pt idx="2">
                  <c:v>3.52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6669-49AB-9BBA-702EC322F1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spPr>
          <a:ln w="9525">
            <a:solidFill>
              <a:srgbClr val="D8E1DB"/>
            </a:solidFill>
          </a:ln>
        </c:spPr>
        <c:txPr>
          <a:bodyPr anchorCtr="1"/>
          <a:lstStyle/>
          <a:p>
            <a:pPr>
              <a:defRPr sz="120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RFVisualizer</a:t>
            </a:r>
            <a:r>
              <a:rPr dirty="0"/>
              <a:t> Graphics-first A1 poster V10 final, 2026-09-06.</a:t>
            </a:r>
          </a:p>
          <a:p>
            <a:r>
              <a:rPr dirty="0"/>
              <a:t>Official header/background: C:/Users/NY/Downloads/26전기 </a:t>
            </a:r>
            <a:r>
              <a:rPr dirty="0" err="1"/>
              <a:t>졸업과제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 레이아웃.pptx, division B green slide.</a:t>
            </a:r>
          </a:p>
          <a:p>
            <a:r>
              <a:rPr dirty="0"/>
              <a:t>Project scope and design: E:/RFVisualizer_Workspace/RFVisualizer-Docs/PROJECT.md and graphics/GRAPHICS.md.</a:t>
            </a:r>
          </a:p>
          <a:p>
            <a:r>
              <a:rPr dirty="0"/>
              <a:t>Status baseline: E:/RFVisualizer_Workspace/RFVisualizer-Docs/CURRENT_STATUS.md. The poster uses the user's 2026-09-06 update that the repeated field test now covers 20 segments; this appears as RF-field input scope, not as a performance result.</a:t>
            </a:r>
          </a:p>
          <a:p>
            <a:r>
              <a:rPr dirty="0"/>
              <a:t>The old 18-segment MAE chart was removed because the new 20-segment MAE/RMSE output was not present in the local Docs or the public Graphics repository at commit 965b90673c64c0c553afeeb2081976760105cff8.</a:t>
            </a:r>
          </a:p>
          <a:p>
            <a:r>
              <a:rPr dirty="0"/>
              <a:t>The hero is an explicitly labeled concept illustration generated for layout ideation, not experimental evidence.</a:t>
            </a:r>
          </a:p>
          <a:p>
            <a:r>
              <a:rPr dirty="0"/>
              <a:t>The large result visual is an explicitly labeled final-screen composition example generated for the poster. It must not be interpreted as an experimental screenshot.</a:t>
            </a:r>
          </a:p>
          <a:p>
            <a:r>
              <a:rPr dirty="0"/>
              <a:t>The Handheld product-style image is an explicitly labeled prototype composition example generated from the documented hardware configuration. Replace it with the team's actual device photograph before final submission.</a:t>
            </a:r>
          </a:p>
          <a:p>
            <a:r>
              <a:rPr dirty="0"/>
              <a:t>The MAE chart uses the verified 18-valid-point analysis: Raw Sionna RT 7.92 dB, Plain IDW 5.47 dB, Residual IDW 3.52 </a:t>
            </a:r>
            <a:r>
              <a:rPr dirty="0" err="1"/>
              <a:t>dB.</a:t>
            </a:r>
            <a:r>
              <a:rPr dirty="0"/>
              <a:t> The poster visibly states that the new 20-segment re-test analysis should replace these values when available.</a:t>
            </a:r>
          </a:p>
          <a:p>
            <a:r>
              <a:rPr dirty="0"/>
              <a:t>The PGSR mesh and raw Sionna RSSI map are existing project artifacts. Replace them with final 3rd-floor Viewer captures if a higher-resolution integrated capture becomes available before submission.</a:t>
            </a:r>
          </a:p>
          <a:p>
            <a:r>
              <a:rPr dirty="0"/>
              <a:t>External structural references reviewed: https://opus.pusan.ac.kr/contest/3 ; https://capstone.engineering.ucsb.edu/sites/default/files/2026-06/Manjunath_VistaVisio.pdf ; https://designlab.eng.rpi.edu/edn/projects/capstone-support-dev/wiki/Poster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chart" Target="../charts/chart1.xml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81"/>
          <p:cNvPicPr>
            <a:picLocks noChangeAspect="1"/>
          </p:cNvPicPr>
          <p:nvPr/>
        </p:nvPicPr>
        <p:blipFill>
          <a:blip r:embed="rId3"/>
          <a:srcRect t="8" b="8"/>
          <a:stretch>
            <a:fillRect/>
          </a:stretch>
        </p:blipFill>
        <p:spPr>
          <a:xfrm>
            <a:off x="0" y="0"/>
            <a:ext cx="21383625" cy="302752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92B97BA-457D-44EE-9A19-379D265C1481}"/>
              </a:ext>
            </a:extLst>
          </p:cNvPr>
          <p:cNvSpPr>
            <a:spLocks noGrp="1"/>
          </p:cNvSpPr>
          <p:nvPr/>
        </p:nvSpPr>
        <p:spPr>
          <a:xfrm>
            <a:off x="904875" y="65722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7C2A"/>
                </a:solidFill>
                <a:latin typeface="Arial"/>
                <a:ea typeface="Arial"/>
                <a:cs typeface="Arial"/>
              </a:rPr>
              <a:t>과제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8356F5-35A1-4B19-BBEA-E42D9A048ADF}"/>
              </a:ext>
            </a:extLst>
          </p:cNvPr>
          <p:cNvSpPr>
            <a:spLocks noGrp="1"/>
          </p:cNvSpPr>
          <p:nvPr/>
        </p:nvSpPr>
        <p:spPr>
          <a:xfrm>
            <a:off x="904875" y="6981825"/>
            <a:ext cx="1190625" cy="38100"/>
          </a:xfrm>
          <a:prstGeom prst="rect">
            <a:avLst/>
          </a:prstGeom>
          <a:solidFill>
            <a:srgbClr val="2EAA3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7FA38D-29C4-4E40-9655-28781365D71E}"/>
              </a:ext>
            </a:extLst>
          </p:cNvPr>
          <p:cNvSpPr>
            <a:spLocks noGrp="1"/>
          </p:cNvSpPr>
          <p:nvPr/>
        </p:nvSpPr>
        <p:spPr>
          <a:xfrm>
            <a:off x="904875" y="7124700"/>
            <a:ext cx="8810625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2D28"/>
                </a:solidFill>
                <a:latin typeface="맑은 고딕"/>
              </a:rPr>
              <a:t>2D 신호 지도는 신호가 약한 위치를 보여 주지만, 그 위치의 벽·복도 구조를 함께 이해하기 어렵다.</a:t>
            </a:r>
            <a:endParaRPr lang="en-US" altLang="ko-KR" sz="1725" b="0" dirty="0">
              <a:solidFill>
                <a:srgbClr val="1422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2AF677-E0D8-4FFD-93E8-665F1F90D124}"/>
              </a:ext>
            </a:extLst>
          </p:cNvPr>
          <p:cNvSpPr>
            <a:spLocks noGrp="1"/>
          </p:cNvSpPr>
          <p:nvPr/>
        </p:nvSpPr>
        <p:spPr>
          <a:xfrm>
            <a:off x="10429875" y="6629400"/>
            <a:ext cx="19050" cy="1409700"/>
          </a:xfrm>
          <a:prstGeom prst="rect">
            <a:avLst/>
          </a:prstGeom>
          <a:solidFill>
            <a:srgbClr val="B8DCC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2B12CE-E610-412C-86C9-74031930835E}"/>
              </a:ext>
            </a:extLst>
          </p:cNvPr>
          <p:cNvSpPr>
            <a:spLocks noGrp="1"/>
          </p:cNvSpPr>
          <p:nvPr/>
        </p:nvSpPr>
        <p:spPr>
          <a:xfrm>
            <a:off x="10906125" y="65722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7C2A"/>
                </a:solidFill>
                <a:latin typeface="Arial"/>
                <a:ea typeface="Arial"/>
                <a:cs typeface="Arial"/>
              </a:rPr>
              <a:t>과제 목표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BAFA01-AE27-4A03-84A6-F20F06C701FB}"/>
              </a:ext>
            </a:extLst>
          </p:cNvPr>
          <p:cNvSpPr>
            <a:spLocks noGrp="1"/>
          </p:cNvSpPr>
          <p:nvPr/>
        </p:nvSpPr>
        <p:spPr>
          <a:xfrm>
            <a:off x="10906125" y="6981825"/>
            <a:ext cx="1190625" cy="38100"/>
          </a:xfrm>
          <a:prstGeom prst="rect">
            <a:avLst/>
          </a:prstGeom>
          <a:solidFill>
            <a:srgbClr val="2EAA3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B62B34-393D-4B16-9D39-BB46818C37F5}"/>
              </a:ext>
            </a:extLst>
          </p:cNvPr>
          <p:cNvSpPr>
            <a:spLocks noGrp="1"/>
          </p:cNvSpPr>
          <p:nvPr/>
        </p:nvSpPr>
        <p:spPr>
          <a:xfrm>
            <a:off x="10906125" y="7124700"/>
            <a:ext cx="9525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2D28"/>
                </a:solidFill>
                <a:latin typeface="맑은 고딕"/>
              </a:rPr>
              <a:t>사진으로 복원한 3D 공간에 전파 예측과 실측 Wi-Fi 신호를 결합해, 공간별 신호 분포를 보여 준다.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A05DBE-FE3B-4E13-BE73-5F7565C32D6D}"/>
              </a:ext>
            </a:extLst>
          </p:cNvPr>
          <p:cNvSpPr>
            <a:spLocks noGrp="1"/>
          </p:cNvSpPr>
          <p:nvPr/>
        </p:nvSpPr>
        <p:spPr>
          <a:xfrm>
            <a:off x="714375" y="8239125"/>
            <a:ext cx="19954875" cy="4000500"/>
          </a:xfrm>
          <a:prstGeom prst="roundRect">
            <a:avLst>
              <a:gd name="adj" fmla="val 1905"/>
            </a:avLst>
          </a:prstGeom>
          <a:solidFill>
            <a:srgbClr val="F6FBF7"/>
          </a:solidFill>
          <a:ln w="9525">
            <a:solidFill>
              <a:srgbClr val="D8E6D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20E906E-56E6-46CC-B60E-D88483A32046}"/>
              </a:ext>
            </a:extLst>
          </p:cNvPr>
          <p:cNvSpPr>
            <a:spLocks noGrp="1"/>
          </p:cNvSpPr>
          <p:nvPr/>
        </p:nvSpPr>
        <p:spPr>
          <a:xfrm>
            <a:off x="1066800" y="8534400"/>
            <a:ext cx="53816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B8DC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68E4A0-4A09-4883-82C3-C718927C969A}"/>
              </a:ext>
            </a:extLst>
          </p:cNvPr>
          <p:cNvSpPr>
            <a:spLocks noGrp="1"/>
          </p:cNvSpPr>
          <p:nvPr/>
        </p:nvSpPr>
        <p:spPr>
          <a:xfrm>
            <a:off x="952500" y="1234440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823E"/>
                </a:solidFill>
                <a:latin typeface="맑은 고딕"/>
              </a:rPr>
              <a:t>1  사진으로 3D 공간 복원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F79381-5EC7-473C-BE79-AA093983EC71}"/>
              </a:ext>
            </a:extLst>
          </p:cNvPr>
          <p:cNvSpPr>
            <a:spLocks noGrp="1"/>
          </p:cNvSpPr>
          <p:nvPr/>
        </p:nvSpPr>
        <p:spPr>
          <a:xfrm>
            <a:off x="952500" y="12744450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D28"/>
                </a:solidFill>
                <a:latin typeface="맑은 고딕"/>
              </a:rPr>
              <a:t>여러 방향의 사진 → 실제 공간과 닮은 3D 장면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654623-4A6A-4631-9228-E087D8EB200F}"/>
              </a:ext>
            </a:extLst>
          </p:cNvPr>
          <p:cNvSpPr>
            <a:spLocks noGrp="1"/>
          </p:cNvSpPr>
          <p:nvPr/>
        </p:nvSpPr>
        <p:spPr>
          <a:xfrm>
            <a:off x="6905625" y="124015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581" lnSpcReduction="10000"/>
          </a:bodyPr>
          <a:lstStyle/>
          <a:p>
            <a:pPr algn="ctr">
              <a:lnSpc>
                <a:spcPct val="106000"/>
              </a:lnSpc>
              <a:buNone/>
              <a:defRPr sz="3600" b="1">
                <a:solidFill>
                  <a:srgbClr val="2EAA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EAA3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A5B67D-8DAC-4207-912E-8551167CF392}"/>
              </a:ext>
            </a:extLst>
          </p:cNvPr>
          <p:cNvSpPr>
            <a:spLocks noGrp="1"/>
          </p:cNvSpPr>
          <p:nvPr/>
        </p:nvSpPr>
        <p:spPr>
          <a:xfrm>
            <a:off x="7524750" y="1234440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823E"/>
                </a:solidFill>
                <a:latin typeface="맑은 고딕"/>
              </a:rPr>
              <a:t>2  신호 예측과 실측 보정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A69565-F5C9-45AD-A92F-B0C8B739C273}"/>
              </a:ext>
            </a:extLst>
          </p:cNvPr>
          <p:cNvSpPr>
            <a:spLocks noGrp="1"/>
          </p:cNvSpPr>
          <p:nvPr/>
        </p:nvSpPr>
        <p:spPr>
          <a:xfrm>
            <a:off x="7524750" y="12744450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D28"/>
                </a:solidFill>
                <a:latin typeface="맑은 고딕"/>
              </a:rPr>
              <a:t>전파 시뮬레이션 + 네 지점의 측정값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57C3FF-7BC7-43E9-BDD7-F6C50FCD5887}"/>
              </a:ext>
            </a:extLst>
          </p:cNvPr>
          <p:cNvSpPr>
            <a:spLocks noGrp="1"/>
          </p:cNvSpPr>
          <p:nvPr/>
        </p:nvSpPr>
        <p:spPr>
          <a:xfrm>
            <a:off x="13477875" y="124015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581" lnSpcReduction="10000"/>
          </a:bodyPr>
          <a:lstStyle/>
          <a:p>
            <a:pPr algn="ctr">
              <a:lnSpc>
                <a:spcPct val="106000"/>
              </a:lnSpc>
              <a:buNone/>
              <a:defRPr sz="3600" b="1">
                <a:solidFill>
                  <a:srgbClr val="2EAA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EAA3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9D25CB-4807-4954-A3B9-9BD4BBBAD6A8}"/>
              </a:ext>
            </a:extLst>
          </p:cNvPr>
          <p:cNvSpPr>
            <a:spLocks noGrp="1"/>
          </p:cNvSpPr>
          <p:nvPr/>
        </p:nvSpPr>
        <p:spPr>
          <a:xfrm>
            <a:off x="14097000" y="1234440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823E"/>
                </a:solidFill>
                <a:latin typeface="맑은 고딕"/>
              </a:rPr>
              <a:t>3  현장에서 결과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19D214-F067-4633-A1BC-DF01F7CDF5EF}"/>
              </a:ext>
            </a:extLst>
          </p:cNvPr>
          <p:cNvSpPr>
            <a:spLocks noGrp="1"/>
          </p:cNvSpPr>
          <p:nvPr/>
        </p:nvSpPr>
        <p:spPr>
          <a:xfrm>
            <a:off x="14097000" y="12744450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D28"/>
                </a:solidFill>
                <a:latin typeface="맑은 고딕"/>
              </a:rPr>
              <a:t>3D 뷰어 + 기울기 센서·버튼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63D8BCA-DE37-4CEE-8BEF-240C2F322FAF}"/>
              </a:ext>
            </a:extLst>
          </p:cNvPr>
          <p:cNvSpPr>
            <a:spLocks noGrp="1"/>
          </p:cNvSpPr>
          <p:nvPr/>
        </p:nvSpPr>
        <p:spPr>
          <a:xfrm>
            <a:off x="762000" y="14697075"/>
            <a:ext cx="4476750" cy="3952875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8E1D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CC60453-82D9-4918-8190-F6E5FF4E5213}"/>
              </a:ext>
            </a:extLst>
          </p:cNvPr>
          <p:cNvSpPr>
            <a:spLocks noGrp="1"/>
          </p:cNvSpPr>
          <p:nvPr/>
        </p:nvSpPr>
        <p:spPr>
          <a:xfrm>
            <a:off x="933450" y="16897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EAA3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5AAB44-C89E-44A1-B783-A911EAEDBD5C}"/>
              </a:ext>
            </a:extLst>
          </p:cNvPr>
          <p:cNvSpPr>
            <a:spLocks noGrp="1"/>
          </p:cNvSpPr>
          <p:nvPr/>
        </p:nvSpPr>
        <p:spPr>
          <a:xfrm>
            <a:off x="933450" y="169164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E934C5-5232-4B30-88CD-58AAE238E4D8}"/>
              </a:ext>
            </a:extLst>
          </p:cNvPr>
          <p:cNvSpPr>
            <a:spLocks noGrp="1"/>
          </p:cNvSpPr>
          <p:nvPr/>
        </p:nvSpPr>
        <p:spPr>
          <a:xfrm>
            <a:off x="1457325" y="1687830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2D28"/>
                </a:solidFill>
                <a:latin typeface="맑은 고딕"/>
              </a:rPr>
              <a:t>사진 기반 3D 공간 복원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1E73AA-F9E1-405B-B0C5-C2A8D41CD2C5}"/>
              </a:ext>
            </a:extLst>
          </p:cNvPr>
          <p:cNvSpPr>
            <a:spLocks noGrp="1"/>
          </p:cNvSpPr>
          <p:nvPr/>
        </p:nvSpPr>
        <p:spPr>
          <a:xfrm>
            <a:off x="933450" y="17392650"/>
            <a:ext cx="4095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D28"/>
                </a:solidFill>
                <a:latin typeface="맑은 고딕"/>
              </a:rPr>
              <a:t>여러 방향의 사진으로 복도 장면을 복원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2D28"/>
                </a:solidFill>
                <a:latin typeface="맑은 고딕"/>
              </a:rPr>
              <a:t>출력: 화면용 3D 장면과 표면 모델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2DFCC2D-548D-4725-9E52-A90042CAB4B0}"/>
              </a:ext>
            </a:extLst>
          </p:cNvPr>
          <p:cNvSpPr>
            <a:spLocks noGrp="1"/>
          </p:cNvSpPr>
          <p:nvPr/>
        </p:nvSpPr>
        <p:spPr>
          <a:xfrm>
            <a:off x="5715000" y="14697075"/>
            <a:ext cx="4476750" cy="3952875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8E1D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F70E3D0-4736-4F1A-ACB4-F89854786B84}"/>
              </a:ext>
            </a:extLst>
          </p:cNvPr>
          <p:cNvSpPr>
            <a:spLocks noGrp="1"/>
          </p:cNvSpPr>
          <p:nvPr/>
        </p:nvSpPr>
        <p:spPr>
          <a:xfrm>
            <a:off x="5886450" y="16897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EAA3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1E6B6A-B45A-4BC9-84A1-531B382B5FFC}"/>
              </a:ext>
            </a:extLst>
          </p:cNvPr>
          <p:cNvSpPr>
            <a:spLocks noGrp="1"/>
          </p:cNvSpPr>
          <p:nvPr/>
        </p:nvSpPr>
        <p:spPr>
          <a:xfrm>
            <a:off x="5886450" y="169164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0D0676C-D89F-4009-8D10-65F322AB3C94}"/>
              </a:ext>
            </a:extLst>
          </p:cNvPr>
          <p:cNvSpPr>
            <a:spLocks noGrp="1"/>
          </p:cNvSpPr>
          <p:nvPr/>
        </p:nvSpPr>
        <p:spPr>
          <a:xfrm>
            <a:off x="6410325" y="1687830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2D28"/>
                </a:solidFill>
                <a:latin typeface="맑은 고딕"/>
              </a:rPr>
              <a:t>전파 계산용 공간 모델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80AB11-D35D-455D-AAB4-5FFB87CD270F}"/>
              </a:ext>
            </a:extLst>
          </p:cNvPr>
          <p:cNvSpPr>
            <a:spLocks noGrp="1"/>
          </p:cNvSpPr>
          <p:nvPr/>
        </p:nvSpPr>
        <p:spPr>
          <a:xfrm>
            <a:off x="5886450" y="17392650"/>
            <a:ext cx="4095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r>
              <a:t>벽·바닥·천장을 닫힌 표면으로 정리</a:t>
            </a:r>
          </a:p>
          <a:p>
            <a:r>
              <a:t>출력: 전파 계산용 단순 공간 모델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599805D-5080-4035-A5D5-E6993CE4B789}"/>
              </a:ext>
            </a:extLst>
          </p:cNvPr>
          <p:cNvSpPr>
            <a:spLocks noGrp="1"/>
          </p:cNvSpPr>
          <p:nvPr/>
        </p:nvSpPr>
        <p:spPr>
          <a:xfrm>
            <a:off x="10668000" y="14697075"/>
            <a:ext cx="4476750" cy="3952875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8E1D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82499F3-A30B-42FC-B355-221E5A25F865}"/>
              </a:ext>
            </a:extLst>
          </p:cNvPr>
          <p:cNvSpPr>
            <a:spLocks noGrp="1"/>
          </p:cNvSpPr>
          <p:nvPr/>
        </p:nvSpPr>
        <p:spPr>
          <a:xfrm>
            <a:off x="10839450" y="16897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EAA3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0EE12DC-8170-47F0-AFCB-BC5F604DCF31}"/>
              </a:ext>
            </a:extLst>
          </p:cNvPr>
          <p:cNvSpPr>
            <a:spLocks noGrp="1"/>
          </p:cNvSpPr>
          <p:nvPr/>
        </p:nvSpPr>
        <p:spPr>
          <a:xfrm>
            <a:off x="10839450" y="169164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A1B3B5E-106F-4E4D-837A-A8E9C8E93CD0}"/>
              </a:ext>
            </a:extLst>
          </p:cNvPr>
          <p:cNvSpPr>
            <a:spLocks noGrp="1"/>
          </p:cNvSpPr>
          <p:nvPr/>
        </p:nvSpPr>
        <p:spPr>
          <a:xfrm>
            <a:off x="11363325" y="1687830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2D28"/>
                </a:solidFill>
                <a:latin typeface="맑은 고딕"/>
              </a:rPr>
              <a:t>신호 예측과 실측 오차 보정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F331D81-3CFC-431D-BD6E-F10C41E79900}"/>
              </a:ext>
            </a:extLst>
          </p:cNvPr>
          <p:cNvSpPr>
            <a:spLocks noGrp="1"/>
          </p:cNvSpPr>
          <p:nvPr/>
        </p:nvSpPr>
        <p:spPr>
          <a:xfrm>
            <a:off x="10839450" y="17392650"/>
            <a:ext cx="4095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D28"/>
                </a:solidFill>
                <a:latin typeface="맑은 고딕"/>
              </a:rPr>
              <a:t>10개 위치에서 정·역 20회 관측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2D28"/>
                </a:solidFill>
                <a:latin typeface="맑은 고딕"/>
              </a:rPr>
              <a:t>시뮬레이션 오차를 네 보정 지점으로 보정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F791447-9A53-4472-822F-317250805448}"/>
              </a:ext>
            </a:extLst>
          </p:cNvPr>
          <p:cNvSpPr>
            <a:spLocks noGrp="1"/>
          </p:cNvSpPr>
          <p:nvPr/>
        </p:nvSpPr>
        <p:spPr>
          <a:xfrm>
            <a:off x="15621000" y="14697075"/>
            <a:ext cx="4476750" cy="3952875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D8E1D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E8897A7-8AAD-4014-B590-33707C541744}"/>
              </a:ext>
            </a:extLst>
          </p:cNvPr>
          <p:cNvSpPr>
            <a:spLocks noGrp="1"/>
          </p:cNvSpPr>
          <p:nvPr/>
        </p:nvSpPr>
        <p:spPr>
          <a:xfrm>
            <a:off x="15792450" y="16897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EAA3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D92BB2-C35C-488A-A74E-08271905904D}"/>
              </a:ext>
            </a:extLst>
          </p:cNvPr>
          <p:cNvSpPr>
            <a:spLocks noGrp="1"/>
          </p:cNvSpPr>
          <p:nvPr/>
        </p:nvSpPr>
        <p:spPr>
          <a:xfrm>
            <a:off x="15792450" y="169164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DD1CD2-8A80-41ED-B448-04DC07812156}"/>
              </a:ext>
            </a:extLst>
          </p:cNvPr>
          <p:cNvSpPr>
            <a:spLocks noGrp="1"/>
          </p:cNvSpPr>
          <p:nvPr/>
        </p:nvSpPr>
        <p:spPr>
          <a:xfrm>
            <a:off x="16316325" y="16878300"/>
            <a:ext cx="3571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2D28"/>
                </a:solidFill>
                <a:latin typeface="맑은 고딕"/>
              </a:rPr>
              <a:t>3D 신호 표시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9A6BCCC-9BE2-43A8-B03F-67FE4AE2E028}"/>
              </a:ext>
            </a:extLst>
          </p:cNvPr>
          <p:cNvSpPr>
            <a:spLocks noGrp="1"/>
          </p:cNvSpPr>
          <p:nvPr/>
        </p:nvSpPr>
        <p:spPr>
          <a:xfrm>
            <a:off x="15792450" y="17392650"/>
            <a:ext cx="4095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lnSpcReduction="10000"/>
          </a:bodyPr>
          <a:lstStyle/>
          <a:p>
            <a:r>
              <a:t>여섯 높이의 신호 단면을 3D로 표시</a:t>
            </a:r>
          </a:p>
          <a:p>
            <a:r>
              <a:t>※ 0.45 m 이외 높이는 계산으로 추정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70C51A-1577-4F7F-821E-73624B52C741}"/>
              </a:ext>
            </a:extLst>
          </p:cNvPr>
          <p:cNvSpPr>
            <a:spLocks noGrp="1"/>
          </p:cNvSpPr>
          <p:nvPr/>
        </p:nvSpPr>
        <p:spPr>
          <a:xfrm>
            <a:off x="5238750" y="16182975"/>
            <a:ext cx="47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4050" b="1">
                <a:solidFill>
                  <a:srgbClr val="2EAA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AA3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8538184-E8AA-4EBA-84FB-BB2492AEFD73}"/>
              </a:ext>
            </a:extLst>
          </p:cNvPr>
          <p:cNvSpPr>
            <a:spLocks noGrp="1"/>
          </p:cNvSpPr>
          <p:nvPr/>
        </p:nvSpPr>
        <p:spPr>
          <a:xfrm>
            <a:off x="10191750" y="16182975"/>
            <a:ext cx="47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4050" b="1">
                <a:solidFill>
                  <a:srgbClr val="2EAA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AA3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01AAB9-EE6F-423F-AA78-F5F5B19D7B0D}"/>
              </a:ext>
            </a:extLst>
          </p:cNvPr>
          <p:cNvSpPr>
            <a:spLocks noGrp="1"/>
          </p:cNvSpPr>
          <p:nvPr/>
        </p:nvSpPr>
        <p:spPr>
          <a:xfrm>
            <a:off x="15144750" y="16182975"/>
            <a:ext cx="47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4050" b="1">
                <a:solidFill>
                  <a:srgbClr val="2EAA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AA3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AAB32EF-C2C0-49ED-9691-7A013C27F2DF}"/>
              </a:ext>
            </a:extLst>
          </p:cNvPr>
          <p:cNvSpPr>
            <a:spLocks noGrp="1"/>
          </p:cNvSpPr>
          <p:nvPr/>
        </p:nvSpPr>
        <p:spPr>
          <a:xfrm>
            <a:off x="762000" y="18897600"/>
            <a:ext cx="19716750" cy="838200"/>
          </a:xfrm>
          <a:prstGeom prst="roundRect">
            <a:avLst>
              <a:gd name="adj" fmla="val 9091"/>
            </a:avLst>
          </a:prstGeom>
          <a:solidFill>
            <a:srgbClr val="EAF6EC"/>
          </a:solidFill>
          <a:ln w="9525">
            <a:solidFill>
              <a:srgbClr val="B8DC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6E050CE-E1E1-450F-A337-56647683B3BF}"/>
              </a:ext>
            </a:extLst>
          </p:cNvPr>
          <p:cNvSpPr>
            <a:spLocks noGrp="1"/>
          </p:cNvSpPr>
          <p:nvPr/>
        </p:nvSpPr>
        <p:spPr>
          <a:xfrm>
            <a:off x="1000125" y="1912620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23E"/>
                </a:solidFill>
                <a:latin typeface="맑은 고딕"/>
              </a:rPr>
              <a:t>장면 분리 이유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A80B61E-C4C4-41B4-9D83-FE400DE56516}"/>
              </a:ext>
            </a:extLst>
          </p:cNvPr>
          <p:cNvSpPr>
            <a:spLocks noGrp="1"/>
          </p:cNvSpPr>
          <p:nvPr/>
        </p:nvSpPr>
        <p:spPr>
          <a:xfrm>
            <a:off x="3000375" y="19069050"/>
            <a:ext cx="19050" cy="495300"/>
          </a:xfrm>
          <a:prstGeom prst="rect">
            <a:avLst/>
          </a:prstGeom>
          <a:solidFill>
            <a:srgbClr val="B8DCC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B1AE89B-6B73-412C-AA38-C4D41167A4AD}"/>
              </a:ext>
            </a:extLst>
          </p:cNvPr>
          <p:cNvSpPr>
            <a:spLocks noGrp="1"/>
          </p:cNvSpPr>
          <p:nvPr/>
        </p:nvSpPr>
        <p:spPr>
          <a:xfrm>
            <a:off x="3333750" y="19097625"/>
            <a:ext cx="1666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2D28"/>
                </a:solidFill>
                <a:latin typeface="맑은 고딕"/>
              </a:rPr>
              <a:t>눈으로 보는 3D 장면과 전파를 계산하는 공간 모델을 따로 만들어, 각 단계에 맞는 표현을 사용했습니다.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B347FFB-E06F-404A-AB7E-738755C9301E}"/>
              </a:ext>
            </a:extLst>
          </p:cNvPr>
          <p:cNvSpPr>
            <a:spLocks noGrp="1"/>
          </p:cNvSpPr>
          <p:nvPr/>
        </p:nvSpPr>
        <p:spPr>
          <a:xfrm>
            <a:off x="904875" y="20212050"/>
            <a:ext cx="8096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2D28"/>
                </a:solidFill>
                <a:latin typeface="맑은 고딕"/>
              </a:rPr>
              <a:t>검증 범위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8CCC206-6CD0-4413-8818-262A3F53F4AE}"/>
              </a:ext>
            </a:extLst>
          </p:cNvPr>
          <p:cNvSpPr>
            <a:spLocks noGrp="1"/>
          </p:cNvSpPr>
          <p:nvPr/>
        </p:nvSpPr>
        <p:spPr>
          <a:xfrm>
            <a:off x="904875" y="20659725"/>
            <a:ext cx="19573875" cy="1638300"/>
          </a:xfrm>
          <a:prstGeom prst="roundRect">
            <a:avLst>
              <a:gd name="adj" fmla="val 4651"/>
            </a:avLst>
          </a:prstGeom>
          <a:solidFill>
            <a:srgbClr val="F6FBF7"/>
          </a:solidFill>
          <a:ln w="9525">
            <a:solidFill>
              <a:srgbClr val="B8DC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756F811-E199-4425-8455-56A3B27B53AA}"/>
              </a:ext>
            </a:extLst>
          </p:cNvPr>
          <p:cNvSpPr>
            <a:spLocks noGrp="1"/>
          </p:cNvSpPr>
          <p:nvPr/>
        </p:nvSpPr>
        <p:spPr>
          <a:xfrm>
            <a:off x="1190625" y="2089785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823E"/>
                </a:solidFill>
                <a:latin typeface="맑은 고딕"/>
              </a:rPr>
              <a:t>실제로 확인함</a:t>
            </a:r>
            <a:endParaRPr sz="1875" b="1" dirty="0">
              <a:solidFill>
                <a:srgbClr val="177C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64EFA40-D356-4E5B-B9FE-AC58E4CFF194}"/>
              </a:ext>
            </a:extLst>
          </p:cNvPr>
          <p:cNvSpPr>
            <a:spLocks noGrp="1"/>
          </p:cNvSpPr>
          <p:nvPr/>
        </p:nvSpPr>
        <p:spPr>
          <a:xfrm>
            <a:off x="1190625" y="2137410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r>
              <a:t>영상 출력·기울기 센서(IMU) 회전</a:t>
            </a:r>
          </a:p>
          <a:p>
            <a:r>
              <a:t>텔레포트·높이 전환 버튼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69554D1-B34A-4EED-BD0E-182909D01FA2}"/>
              </a:ext>
            </a:extLst>
          </p:cNvPr>
          <p:cNvSpPr>
            <a:spLocks noGrp="1"/>
          </p:cNvSpPr>
          <p:nvPr/>
        </p:nvSpPr>
        <p:spPr>
          <a:xfrm>
            <a:off x="7381875" y="20897850"/>
            <a:ext cx="19050" cy="1104900"/>
          </a:xfrm>
          <a:prstGeom prst="rect">
            <a:avLst/>
          </a:prstGeom>
          <a:solidFill>
            <a:srgbClr val="B8DCC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98D8E9-5E95-4C93-A423-D37F95DE4F3C}"/>
              </a:ext>
            </a:extLst>
          </p:cNvPr>
          <p:cNvSpPr>
            <a:spLocks noGrp="1"/>
          </p:cNvSpPr>
          <p:nvPr/>
        </p:nvSpPr>
        <p:spPr>
          <a:xfrm>
            <a:off x="7667625" y="2089785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823E"/>
                </a:solidFill>
                <a:latin typeface="맑은 고딕"/>
              </a:rPr>
              <a:t>정량 비교 범위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F36BC7-F352-452A-B216-6E8D56C1EBBD}"/>
              </a:ext>
            </a:extLst>
          </p:cNvPr>
          <p:cNvSpPr>
            <a:spLocks noGrp="1"/>
          </p:cNvSpPr>
          <p:nvPr/>
        </p:nvSpPr>
        <p:spPr>
          <a:xfrm>
            <a:off x="7667625" y="21374100"/>
            <a:ext cx="5810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2D28"/>
                </a:solidFill>
                <a:latin typeface="맑은 고딕"/>
              </a:rPr>
              <a:t>단일 복도 10개 위치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2D28"/>
                </a:solidFill>
                <a:latin typeface="맑은 고딕"/>
              </a:rPr>
              <a:t>정·역 20개 반복 관측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7816873-D4E5-4B06-ACB0-F0389F90E487}"/>
              </a:ext>
            </a:extLst>
          </p:cNvPr>
          <p:cNvSpPr>
            <a:spLocks noGrp="1"/>
          </p:cNvSpPr>
          <p:nvPr/>
        </p:nvSpPr>
        <p:spPr>
          <a:xfrm>
            <a:off x="13858875" y="20897850"/>
            <a:ext cx="19050" cy="1104900"/>
          </a:xfrm>
          <a:prstGeom prst="rect">
            <a:avLst/>
          </a:prstGeom>
          <a:solidFill>
            <a:srgbClr val="B8DCC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F9AF630-A52F-430C-8BD3-607D6AF608EA}"/>
              </a:ext>
            </a:extLst>
          </p:cNvPr>
          <p:cNvSpPr>
            <a:spLocks noGrp="1"/>
          </p:cNvSpPr>
          <p:nvPr/>
        </p:nvSpPr>
        <p:spPr>
          <a:xfrm>
            <a:off x="14144625" y="20897850"/>
            <a:ext cx="6048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823E"/>
                </a:solidFill>
                <a:latin typeface="맑은 고딕"/>
              </a:rPr>
              <a:t>아직 확인하지 않음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0134688-584D-4574-BA31-9875C42B8414}"/>
              </a:ext>
            </a:extLst>
          </p:cNvPr>
          <p:cNvSpPr>
            <a:spLocks noGrp="1"/>
          </p:cNvSpPr>
          <p:nvPr/>
        </p:nvSpPr>
        <p:spPr>
          <a:xfrm>
            <a:off x="14144625" y="21374100"/>
            <a:ext cx="60483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r>
              <a:t>독립 시험·300초 지속 성능</a:t>
            </a:r>
          </a:p>
          <a:p>
            <a:r>
              <a:t>0.45 m 이외 높이의 정확도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574DE8B-DA31-4A23-9255-6FA46C314C9C}"/>
              </a:ext>
            </a:extLst>
          </p:cNvPr>
          <p:cNvSpPr>
            <a:spLocks noGrp="1"/>
          </p:cNvSpPr>
          <p:nvPr/>
        </p:nvSpPr>
        <p:spPr>
          <a:xfrm>
            <a:off x="809625" y="238887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7C2A"/>
                </a:solidFill>
                <a:latin typeface="Arial"/>
                <a:ea typeface="Arial"/>
                <a:cs typeface="Arial"/>
              </a:rPr>
              <a:t>예측 오차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7C620C6-FA60-4C21-953E-0F62CE9518E2}"/>
              </a:ext>
            </a:extLst>
          </p:cNvPr>
          <p:cNvSpPr>
            <a:spLocks noGrp="1"/>
          </p:cNvSpPr>
          <p:nvPr/>
        </p:nvSpPr>
        <p:spPr>
          <a:xfrm>
            <a:off x="809625" y="24269700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62D28"/>
                </a:solidFill>
                <a:latin typeface="맑은 고딕"/>
              </a:rPr>
              <a:t>MAE: 예측과 실측의 평균 차이 · 낮을수록 좋음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0CCDAF3-AA96-4AA5-86D9-DFCBC598A11C}"/>
              </a:ext>
            </a:extLst>
          </p:cNvPr>
          <p:cNvSpPr>
            <a:spLocks noGrp="1"/>
          </p:cNvSpPr>
          <p:nvPr/>
        </p:nvSpPr>
        <p:spPr>
          <a:xfrm>
            <a:off x="857250" y="26308050"/>
            <a:ext cx="600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823E"/>
                </a:solidFill>
                <a:latin typeface="맑은 고딕"/>
              </a:rPr>
              <a:t>7.64 → 3.41 dB (55.4% 감소)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6B128BF-1BE4-4CCF-A2DD-D9BF88D12576}"/>
              </a:ext>
            </a:extLst>
          </p:cNvPr>
          <p:cNvSpPr>
            <a:spLocks noGrp="1"/>
          </p:cNvSpPr>
          <p:nvPr/>
        </p:nvSpPr>
        <p:spPr>
          <a:xfrm>
            <a:off x="857250" y="26670000"/>
            <a:ext cx="600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5F54"/>
                </a:solidFill>
                <a:latin typeface="맑은 고딕"/>
              </a:rPr>
              <a:t>단일 복도의 탐색적 결과 · 독립 시험 성능 아님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2F3712C-774A-45C4-89BF-0A95B29BC9F0}"/>
              </a:ext>
            </a:extLst>
          </p:cNvPr>
          <p:cNvSpPr>
            <a:spLocks noGrp="1"/>
          </p:cNvSpPr>
          <p:nvPr/>
        </p:nvSpPr>
        <p:spPr>
          <a:xfrm>
            <a:off x="7191375" y="23983950"/>
            <a:ext cx="19050" cy="3305175"/>
          </a:xfrm>
          <a:prstGeom prst="rect">
            <a:avLst/>
          </a:prstGeom>
          <a:solidFill>
            <a:srgbClr val="B8DCC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6AB8AD5-2353-4516-BCDA-85C0A227B1A5}"/>
              </a:ext>
            </a:extLst>
          </p:cNvPr>
          <p:cNvSpPr>
            <a:spLocks noGrp="1"/>
          </p:cNvSpPr>
          <p:nvPr/>
        </p:nvSpPr>
        <p:spPr>
          <a:xfrm>
            <a:off x="7524750" y="2388870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7C2A"/>
                </a:solidFill>
                <a:latin typeface="Arial"/>
                <a:ea typeface="Arial"/>
                <a:cs typeface="Arial"/>
              </a:rPr>
              <a:t>3D 통합 시각화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7BC02C1-A4C4-4951-AF67-7618A57E3B84}"/>
              </a:ext>
            </a:extLst>
          </p:cNvPr>
          <p:cNvSpPr>
            <a:spLocks noGrp="1"/>
          </p:cNvSpPr>
          <p:nvPr/>
        </p:nvSpPr>
        <p:spPr>
          <a:xfrm>
            <a:off x="7524750" y="24336375"/>
            <a:ext cx="8286750" cy="264795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D8E1D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A75DE61-5C8C-4C01-9CFB-26306C8E8BB1}"/>
              </a:ext>
            </a:extLst>
          </p:cNvPr>
          <p:cNvSpPr>
            <a:spLocks noGrp="1"/>
          </p:cNvSpPr>
          <p:nvPr/>
        </p:nvSpPr>
        <p:spPr>
          <a:xfrm>
            <a:off x="7620000" y="2704147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42504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62D28"/>
                </a:solidFill>
                <a:latin typeface="맑은 고딕"/>
              </a:rPr>
              <a:t>3D 장면과 신호 분포를 합성하고, 벽에 가려진 부분만 화면에서 숨김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C341383-1BA9-4B54-B652-71D8EA0799DA}"/>
              </a:ext>
            </a:extLst>
          </p:cNvPr>
          <p:cNvSpPr>
            <a:spLocks noGrp="1"/>
          </p:cNvSpPr>
          <p:nvPr/>
        </p:nvSpPr>
        <p:spPr>
          <a:xfrm>
            <a:off x="16144875" y="23983950"/>
            <a:ext cx="19050" cy="3305175"/>
          </a:xfrm>
          <a:prstGeom prst="rect">
            <a:avLst/>
          </a:prstGeom>
          <a:solidFill>
            <a:srgbClr val="B8DCC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27F7A50-AAE3-4F76-A146-5E0736AC1D10}"/>
              </a:ext>
            </a:extLst>
          </p:cNvPr>
          <p:cNvSpPr>
            <a:spLocks noGrp="1"/>
          </p:cNvSpPr>
          <p:nvPr/>
        </p:nvSpPr>
        <p:spPr>
          <a:xfrm>
            <a:off x="16478250" y="2388870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7C2A"/>
                </a:solidFill>
                <a:latin typeface="Arial"/>
                <a:ea typeface="Arial"/>
                <a:cs typeface="Arial"/>
              </a:rPr>
              <a:t>핸드헬드 연동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9E8BA7-A7F3-4D1C-B4A3-A0892114C668}"/>
              </a:ext>
            </a:extLst>
          </p:cNvPr>
          <p:cNvSpPr>
            <a:spLocks noGrp="1"/>
          </p:cNvSpPr>
          <p:nvPr/>
        </p:nvSpPr>
        <p:spPr>
          <a:xfrm>
            <a:off x="16430625" y="26736675"/>
            <a:ext cx="3905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62D28"/>
                </a:solidFill>
                <a:latin typeface="맑은 고딕"/>
              </a:rPr>
              <a:t>기기를 기울여 시점 제어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2D28"/>
                </a:solidFill>
                <a:latin typeface="맑은 고딕"/>
              </a:rPr>
              <a:t>텔레포트·높이 전환 확인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E34522DE-9C50-4C95-BDA3-D9A6CB5E5DA9}"/>
              </a:ext>
            </a:extLst>
          </p:cNvPr>
          <p:cNvSpPr>
            <a:spLocks noGrp="1"/>
          </p:cNvSpPr>
          <p:nvPr/>
        </p:nvSpPr>
        <p:spPr>
          <a:xfrm>
            <a:off x="762000" y="27574875"/>
            <a:ext cx="19716750" cy="762000"/>
          </a:xfrm>
          <a:prstGeom prst="roundRect">
            <a:avLst>
              <a:gd name="adj" fmla="val 10000"/>
            </a:avLst>
          </a:prstGeom>
          <a:solidFill>
            <a:srgbClr val="F6FBF7"/>
          </a:solidFill>
          <a:ln w="9525">
            <a:solidFill>
              <a:srgbClr val="B8DCC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CFFFA1D-E93B-4BE7-9176-190292A17445}"/>
              </a:ext>
            </a:extLst>
          </p:cNvPr>
          <p:cNvSpPr>
            <a:spLocks noGrp="1"/>
          </p:cNvSpPr>
          <p:nvPr/>
        </p:nvSpPr>
        <p:spPr>
          <a:xfrm>
            <a:off x="1095375" y="27755850"/>
            <a:ext cx="1905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422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2D28"/>
                </a:solidFill>
                <a:latin typeface="맑은 고딕"/>
              </a:rPr>
              <a:t>사진 기반 3D 공간에 전파 예측과 실측 보정을 결합하고, 실제 핸드헬드에서 주요 조작의 종단 동작을 확인했습니다.</a:t>
            </a:r>
            <a:endParaRPr sz="1800" b="1" dirty="0">
              <a:solidFill>
                <a:srgbClr val="1422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PLACEHOLDER_그림 90"/>
          <p:cNvSpPr/>
          <p:nvPr/>
        </p:nvSpPr>
        <p:spPr>
          <a:xfrm>
            <a:off x="838200" y="8362950"/>
            <a:ext cx="19707225" cy="3752850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05F54"/>
                </a:solidFill>
                <a:latin typeface="맑은 고딕"/>
              </a:rPr>
              <a:t>이미지 삽입 예정
최종 통합 화면 또는 실험 현장 사진</a:t>
            </a:r>
          </a:p>
        </p:txBody>
      </p:sp>
      <p:sp>
        <p:nvSpPr>
          <p:cNvPr id="162" name="PLACEHOLDER_그림 102"/>
          <p:cNvSpPr/>
          <p:nvPr/>
        </p:nvSpPr>
        <p:spPr>
          <a:xfrm>
            <a:off x="857250" y="14792325"/>
            <a:ext cx="4286250" cy="1952625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505F54"/>
                </a:solidFill>
                <a:latin typeface="맑은 고딕"/>
              </a:rPr>
              <a:t>이미지 삽입 예정
3층 링 복도 3D 복원 화면</a:t>
            </a:r>
          </a:p>
        </p:txBody>
      </p:sp>
      <p:sp>
        <p:nvSpPr>
          <p:cNvPr id="163" name="PLACEHOLDER_그림 108"/>
          <p:cNvSpPr/>
          <p:nvPr/>
        </p:nvSpPr>
        <p:spPr>
          <a:xfrm>
            <a:off x="5810250" y="14792325"/>
            <a:ext cx="4286250" cy="1952625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505F54"/>
                </a:solidFill>
                <a:latin typeface="맑은 고딕"/>
              </a:rPr>
              <a:t>이미지 삽입 예정
단순 공간 모델과 측정점 배치</a:t>
            </a:r>
          </a:p>
        </p:txBody>
      </p:sp>
      <p:sp>
        <p:nvSpPr>
          <p:cNvPr id="164" name="PLACEHOLDER_그림 114"/>
          <p:cNvSpPr/>
          <p:nvPr/>
        </p:nvSpPr>
        <p:spPr>
          <a:xfrm>
            <a:off x="10763250" y="14792325"/>
            <a:ext cx="4286250" cy="1952625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505F54"/>
                </a:solidFill>
                <a:latin typeface="맑은 고딕"/>
              </a:rPr>
              <a:t>이미지 삽입 예정
최신 예측 수신 전력 지도</a:t>
            </a:r>
          </a:p>
        </p:txBody>
      </p:sp>
      <p:sp>
        <p:nvSpPr>
          <p:cNvPr id="165" name="PLACEHOLDER_그림 120"/>
          <p:cNvSpPr/>
          <p:nvPr/>
        </p:nvSpPr>
        <p:spPr>
          <a:xfrm>
            <a:off x="15716250" y="14792325"/>
            <a:ext cx="4286250" cy="1952625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505F54"/>
                </a:solidFill>
                <a:latin typeface="맑은 고딕"/>
              </a:rPr>
              <a:t>이미지 삽입 예정
실제 3D 뷰어(SIBR) 화면</a:t>
            </a:r>
          </a:p>
        </p:txBody>
      </p:sp>
      <p:sp>
        <p:nvSpPr>
          <p:cNvPr id="166" name="REVISED_원시 예측"/>
          <p:cNvSpPr txBox="1"/>
          <p:nvPr/>
        </p:nvSpPr>
        <p:spPr>
          <a:xfrm>
            <a:off x="827999" y="24605999"/>
            <a:ext cx="1440000" cy="2232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2D28"/>
                </a:solidFill>
                <a:latin typeface="맑은 고딕"/>
              </a:rPr>
              <a:t>원시 예측</a:t>
            </a:r>
          </a:p>
        </p:txBody>
      </p:sp>
      <p:sp>
        <p:nvSpPr>
          <p:cNvPr id="167" name="REVISED_BAR_1"/>
          <p:cNvSpPr/>
          <p:nvPr/>
        </p:nvSpPr>
        <p:spPr>
          <a:xfrm>
            <a:off x="2358000" y="24623999"/>
            <a:ext cx="3818202" cy="190800"/>
          </a:xfrm>
          <a:prstGeom prst="rect">
            <a:avLst/>
          </a:prstGeom>
          <a:solidFill>
            <a:srgbClr val="969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VISED_7.64"/>
          <p:cNvSpPr txBox="1"/>
          <p:nvPr/>
        </p:nvSpPr>
        <p:spPr>
          <a:xfrm>
            <a:off x="5654202" y="24613199"/>
            <a:ext cx="450000" cy="2088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7.64</a:t>
            </a:r>
          </a:p>
        </p:txBody>
      </p:sp>
      <p:sp>
        <p:nvSpPr>
          <p:cNvPr id="169" name="REVISED_일반 보간"/>
          <p:cNvSpPr txBox="1"/>
          <p:nvPr/>
        </p:nvSpPr>
        <p:spPr>
          <a:xfrm>
            <a:off x="827999" y="24994799"/>
            <a:ext cx="1440000" cy="2232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2D28"/>
                </a:solidFill>
                <a:latin typeface="맑은 고딕"/>
              </a:rPr>
              <a:t>일반 보간</a:t>
            </a:r>
          </a:p>
        </p:txBody>
      </p:sp>
      <p:sp>
        <p:nvSpPr>
          <p:cNvPr id="170" name="REVISED_BAR_2"/>
          <p:cNvSpPr/>
          <p:nvPr/>
        </p:nvSpPr>
        <p:spPr>
          <a:xfrm>
            <a:off x="2358000" y="25012799"/>
            <a:ext cx="2663745" cy="190800"/>
          </a:xfrm>
          <a:prstGeom prst="rect">
            <a:avLst/>
          </a:prstGeom>
          <a:solidFill>
            <a:srgbClr val="67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VISED_5.33"/>
          <p:cNvSpPr txBox="1"/>
          <p:nvPr/>
        </p:nvSpPr>
        <p:spPr>
          <a:xfrm>
            <a:off x="4499745" y="25001999"/>
            <a:ext cx="450000" cy="2088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5.33</a:t>
            </a:r>
          </a:p>
        </p:txBody>
      </p:sp>
      <p:sp>
        <p:nvSpPr>
          <p:cNvPr id="172" name="REVISED_잔차 보정"/>
          <p:cNvSpPr txBox="1"/>
          <p:nvPr/>
        </p:nvSpPr>
        <p:spPr>
          <a:xfrm>
            <a:off x="827999" y="25383599"/>
            <a:ext cx="1440000" cy="2232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2D28"/>
                </a:solidFill>
                <a:latin typeface="맑은 고딕"/>
              </a:rPr>
              <a:t>제안 보정</a:t>
            </a:r>
          </a:p>
        </p:txBody>
      </p:sp>
      <p:sp>
        <p:nvSpPr>
          <p:cNvPr id="173" name="REVISED_BAR_3"/>
          <p:cNvSpPr/>
          <p:nvPr/>
        </p:nvSpPr>
        <p:spPr>
          <a:xfrm>
            <a:off x="2358000" y="25401599"/>
            <a:ext cx="1704197" cy="190800"/>
          </a:xfrm>
          <a:prstGeom prst="rect">
            <a:avLst/>
          </a:prstGeom>
          <a:solidFill>
            <a:srgbClr val="15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VISED_3.41"/>
          <p:cNvSpPr txBox="1"/>
          <p:nvPr/>
        </p:nvSpPr>
        <p:spPr>
          <a:xfrm>
            <a:off x="3540197" y="25390799"/>
            <a:ext cx="450000" cy="2088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3.41</a:t>
            </a:r>
          </a:p>
        </p:txBody>
      </p:sp>
      <p:sp>
        <p:nvSpPr>
          <p:cNvPr id="175" name="REVISED_전역 보정"/>
          <p:cNvSpPr txBox="1"/>
          <p:nvPr/>
        </p:nvSpPr>
        <p:spPr>
          <a:xfrm>
            <a:off x="827999" y="25772399"/>
            <a:ext cx="1440000" cy="2232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2D28"/>
                </a:solidFill>
                <a:latin typeface="맑은 고딕"/>
              </a:rPr>
              <a:t>전역 보정</a:t>
            </a:r>
          </a:p>
        </p:txBody>
      </p:sp>
      <p:sp>
        <p:nvSpPr>
          <p:cNvPr id="176" name="REVISED_BAR_4"/>
          <p:cNvSpPr/>
          <p:nvPr/>
        </p:nvSpPr>
        <p:spPr>
          <a:xfrm>
            <a:off x="2358000" y="25790399"/>
            <a:ext cx="4128056" cy="190800"/>
          </a:xfrm>
          <a:prstGeom prst="rect">
            <a:avLst/>
          </a:prstGeom>
          <a:solidFill>
            <a:srgbClr val="CF8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VISED_8.26"/>
          <p:cNvSpPr txBox="1"/>
          <p:nvPr/>
        </p:nvSpPr>
        <p:spPr>
          <a:xfrm>
            <a:off x="5964056" y="25779599"/>
            <a:ext cx="450000" cy="2088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8.26</a:t>
            </a:r>
          </a:p>
        </p:txBody>
      </p:sp>
      <p:sp>
        <p:nvSpPr>
          <p:cNvPr id="178" name="PLACEHOLDER_그림 151"/>
          <p:cNvSpPr/>
          <p:nvPr/>
        </p:nvSpPr>
        <p:spPr>
          <a:xfrm>
            <a:off x="7639050" y="24450675"/>
            <a:ext cx="8058150" cy="2419350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05F54"/>
                </a:solidFill>
                <a:latin typeface="맑은 고딕"/>
              </a:rPr>
              <a:t>이미지 삽입 예정
실제 3층 링 복도 Viewer 캡처</a:t>
            </a:r>
          </a:p>
        </p:txBody>
      </p:sp>
      <p:sp>
        <p:nvSpPr>
          <p:cNvPr id="179" name="PLACEHOLDER_그림 157"/>
          <p:cNvSpPr/>
          <p:nvPr/>
        </p:nvSpPr>
        <p:spPr>
          <a:xfrm>
            <a:off x="17216438" y="24336375"/>
            <a:ext cx="2333625" cy="2333625"/>
          </a:xfrm>
          <a:prstGeom prst="roundRect">
            <a:avLst/>
          </a:prstGeom>
          <a:solidFill>
            <a:srgbClr val="EDF5EE"/>
          </a:solidFill>
          <a:ln w="19050">
            <a:solidFill>
              <a:srgbClr val="6EA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05F54"/>
                </a:solidFill>
                <a:latin typeface="맑은 고딕"/>
              </a:rPr>
              <a:t>이미지 삽입 예정
실제 ESP32-S3 기기 사진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20809C-C1CB-4F49-BDBB-7315111268B5}"/>
              </a:ext>
            </a:extLst>
          </p:cNvPr>
          <p:cNvSpPr>
            <a:spLocks noGrp="1"/>
          </p:cNvSpPr>
          <p:nvPr/>
        </p:nvSpPr>
        <p:spPr>
          <a:xfrm>
            <a:off x="1066800" y="8553450"/>
            <a:ext cx="5381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B5B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823E"/>
                </a:solidFill>
                <a:latin typeface="맑은 고딕"/>
              </a:rPr>
              <a:t>한눈에 보는 전체 과정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2C5374B3-2A93-43D6-8EBB-54F6DDB24A4A}"/>
              </a:ext>
            </a:extLst>
          </p:cNvPr>
          <p:cNvSpPr>
            <a:spLocks noGrp="1"/>
          </p:cNvSpPr>
          <p:nvPr/>
        </p:nvSpPr>
        <p:spPr>
          <a:xfrm>
            <a:off x="7791450" y="24603075"/>
            <a:ext cx="2000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B8DC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A6C6C90-F1D3-4D69-9D65-591EA8C438A1}"/>
              </a:ext>
            </a:extLst>
          </p:cNvPr>
          <p:cNvSpPr>
            <a:spLocks noGrp="1"/>
          </p:cNvSpPr>
          <p:nvPr/>
        </p:nvSpPr>
        <p:spPr>
          <a:xfrm>
            <a:off x="7791450" y="2466022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77C2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F823E"/>
                </a:solidFill>
                <a:latin typeface="맑은 고딕"/>
              </a:rPr>
              <a:t>실제 화면 삽입</a:t>
            </a:r>
          </a:p>
        </p:txBody>
      </p:sp>
      <p:sp>
        <p:nvSpPr>
          <p:cNvPr id="159" name="REVISED_TITLE_BACKGROUND"/>
          <p:cNvSpPr/>
          <p:nvPr/>
        </p:nvSpPr>
        <p:spPr>
          <a:xfrm>
            <a:off x="4031999" y="756000"/>
            <a:ext cx="15480000" cy="1800000"/>
          </a:xfrm>
          <a:prstGeom prst="rect">
            <a:avLst/>
          </a:prstGeom>
          <a:solidFill>
            <a:srgbClr val="A5C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VISED_RFVisualizer: 실내 Wi-"/>
          <p:cNvSpPr txBox="1"/>
          <p:nvPr/>
        </p:nvSpPr>
        <p:spPr>
          <a:xfrm>
            <a:off x="4104000" y="810000"/>
            <a:ext cx="15336000" cy="1620000"/>
          </a:xfrm>
          <a:prstGeom prst="rect">
            <a:avLst/>
          </a:prstGeom>
          <a:noFill/>
        </p:spPr>
        <p:txBody>
          <a:bodyPr wrap="square" lIns="18000" rIns="18000" tIns="7200" bIns="72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RFVisualizer: 실내 Wi-Fi 신호의 3D 공간 시각화</a:t>
            </a:r>
          </a:p>
        </p:txBody>
      </p:sp>
    </p:spTree>
    <p:extLst>
      <p:ext uri="{BB962C8B-B14F-4D97-AF65-F5344CB8AC3E}">
        <p14:creationId xmlns:p14="http://schemas.microsoft.com/office/powerpoint/2010/main" val="857769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765</Words>
  <Application>Microsoft Office PowerPoint</Application>
  <DocSecurity>0</DocSecurity>
  <PresentationFormat>사용자 지정</PresentationFormat>
  <Paragraphs>75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Seung Woo Lee</cp:lastModifiedBy>
  <cp:revision>3</cp:revision>
  <dcterms:created xsi:type="dcterms:W3CDTF">2026-09-06T13:02:40Z</dcterms:created>
  <dcterms:modified xsi:type="dcterms:W3CDTF">2026-09-07T12:53:16Z</dcterms:modified>
</cp:coreProperties>
</file>