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524317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77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20" y="6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98121" y="962253"/>
            <a:ext cx="2514600" cy="1627632"/>
          </a:xfrm>
          <a:prstGeom prst="roundRect">
            <a:avLst/>
          </a:prstGeom>
          <a:solidFill>
            <a:srgbClr val="EFF6FF"/>
          </a:solidFill>
          <a:ln w="215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tIns="146304" rIns="164592" bIns="109728" rtlCol="0" anchor="ctr"/>
          <a:lstStyle/>
          <a:p>
            <a:pPr algn="ctr">
              <a:spcAft>
                <a:spcPts val="800"/>
              </a:spcAft>
              <a:defRPr sz="2100" b="1">
                <a:solidFill>
                  <a:srgbClr val="1F2937"/>
                </a:solidFill>
                <a:latin typeface="Aptos"/>
              </a:defRPr>
            </a:pPr>
            <a:r>
              <a:rPr sz="2000" dirty="0"/>
              <a:t>Scene</a:t>
            </a:r>
            <a:r>
              <a:rPr lang="en-US" sz="2000" dirty="0"/>
              <a:t> </a:t>
            </a:r>
            <a:r>
              <a:rPr sz="2000" dirty="0"/>
              <a:t>Construction</a:t>
            </a:r>
          </a:p>
          <a:p>
            <a:pPr algn="ctr">
              <a:lnSpc>
                <a:spcPct val="100000"/>
              </a:lnSpc>
              <a:defRPr sz="180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Indoor images</a:t>
            </a:r>
            <a:br>
              <a:rPr sz="1200" dirty="0"/>
            </a:br>
            <a:r>
              <a:rPr sz="1200" dirty="0"/>
              <a:t>COLMAP → PGSR</a:t>
            </a:r>
            <a:br>
              <a:rPr sz="1200" dirty="0"/>
            </a:br>
            <a:r>
              <a:rPr sz="1200" dirty="0"/>
              <a:t>Closed proxy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1944" y="962253"/>
            <a:ext cx="2514600" cy="1627632"/>
          </a:xfrm>
          <a:prstGeom prst="roundRect">
            <a:avLst/>
          </a:prstGeom>
          <a:solidFill>
            <a:srgbClr val="EFF6FF"/>
          </a:solidFill>
          <a:ln w="215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tIns="146304" rIns="164592" bIns="109728" rtlCol="0" anchor="ctr"/>
          <a:lstStyle/>
          <a:p>
            <a:pPr algn="ctr">
              <a:spcAft>
                <a:spcPts val="800"/>
              </a:spcAft>
              <a:defRPr sz="2100" b="1">
                <a:solidFill>
                  <a:srgbClr val="1F2937"/>
                </a:solidFill>
                <a:latin typeface="Aptos"/>
              </a:defRPr>
            </a:pPr>
            <a:r>
              <a:rPr dirty="0"/>
              <a:t>Sionna 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24784" y="3403701"/>
            <a:ext cx="2788920" cy="1810512"/>
          </a:xfrm>
          <a:prstGeom prst="roundRect">
            <a:avLst/>
          </a:prstGeom>
          <a:solidFill>
            <a:srgbClr val="FFF7ED"/>
          </a:solidFill>
          <a:ln w="2159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tIns="146304" rIns="164592" bIns="109728" rtlCol="0" anchor="ctr"/>
          <a:lstStyle/>
          <a:p>
            <a:pPr algn="ctr">
              <a:spcAft>
                <a:spcPts val="800"/>
              </a:spcAft>
              <a:defRPr sz="2100" b="1">
                <a:solidFill>
                  <a:srgbClr val="1F2937"/>
                </a:solidFill>
                <a:latin typeface="Aptos"/>
              </a:defRPr>
            </a:pPr>
            <a:r>
              <a:rPr sz="2000" dirty="0"/>
              <a:t>RF Correction</a:t>
            </a:r>
          </a:p>
          <a:p>
            <a:pPr algn="ctr">
              <a:lnSpc>
                <a:spcPct val="100000"/>
              </a:lnSpc>
              <a:defRPr sz="1800">
                <a:solidFill>
                  <a:srgbClr val="64748B"/>
                </a:solidFill>
                <a:latin typeface="Aptos"/>
              </a:defRPr>
            </a:pPr>
            <a:r>
              <a:rPr sz="1600" dirty="0"/>
              <a:t>Uncorrected</a:t>
            </a:r>
            <a:r>
              <a:rPr lang="en-US" sz="1600" dirty="0"/>
              <a:t>,</a:t>
            </a:r>
            <a:r>
              <a:rPr sz="1600" dirty="0"/>
              <a:t> </a:t>
            </a:r>
            <a:endParaRPr lang="en-US" sz="1600" dirty="0"/>
          </a:p>
          <a:p>
            <a:pPr algn="ctr">
              <a:lnSpc>
                <a:spcPct val="100000"/>
              </a:lnSpc>
              <a:defRPr sz="1800">
                <a:solidFill>
                  <a:srgbClr val="64748B"/>
                </a:solidFill>
                <a:latin typeface="Aptos"/>
              </a:defRPr>
            </a:pPr>
            <a:r>
              <a:rPr sz="1600" dirty="0"/>
              <a:t>Plain IDW</a:t>
            </a:r>
            <a:br>
              <a:rPr sz="1600" dirty="0"/>
            </a:br>
            <a:r>
              <a:rPr sz="1600" dirty="0"/>
              <a:t>Residual IDW</a:t>
            </a:r>
            <a:r>
              <a:rPr lang="en-US" sz="1600" dirty="0"/>
              <a:t>, </a:t>
            </a:r>
          </a:p>
          <a:p>
            <a:pPr algn="ctr">
              <a:lnSpc>
                <a:spcPct val="100000"/>
              </a:lnSpc>
              <a:defRPr sz="1800">
                <a:solidFill>
                  <a:srgbClr val="64748B"/>
                </a:solidFill>
                <a:latin typeface="Aptos"/>
              </a:defRPr>
            </a:pPr>
            <a:r>
              <a:rPr sz="1600" dirty="0"/>
              <a:t>Global bias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018391" y="2615184"/>
            <a:ext cx="2788920" cy="162763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2159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tIns="146304" rIns="164592" bIns="109728" rtlCol="0" anchor="ctr"/>
          <a:lstStyle/>
          <a:p>
            <a:pPr algn="ctr">
              <a:spcAft>
                <a:spcPts val="800"/>
              </a:spcAft>
              <a:defRPr sz="2100" b="1">
                <a:solidFill>
                  <a:srgbClr val="1F2937"/>
                </a:solidFill>
                <a:latin typeface="Aptos"/>
              </a:defRPr>
            </a:pPr>
            <a:r>
              <a:rPr dirty="0"/>
              <a:t>3D Visualization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997" y="3998061"/>
            <a:ext cx="2212848" cy="621792"/>
          </a:xfrm>
          <a:prstGeom prst="roundRect">
            <a:avLst/>
          </a:prstGeom>
          <a:solidFill>
            <a:srgbClr val="F0FDF4"/>
          </a:solidFill>
          <a:ln w="1778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>
              <a:defRPr sz="1800" b="1">
                <a:solidFill>
                  <a:srgbClr val="1F2937"/>
                </a:solidFill>
                <a:latin typeface="Aptos"/>
              </a:defRPr>
            </a:pPr>
            <a:r>
              <a:t>Calibration RSSI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41136" y="1465173"/>
            <a:ext cx="2212848" cy="621792"/>
          </a:xfrm>
          <a:prstGeom prst="roundRect">
            <a:avLst/>
          </a:prstGeom>
          <a:solidFill>
            <a:srgbClr val="F0FDF4"/>
          </a:solidFill>
          <a:ln w="1778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>
              <a:defRPr sz="1800" b="1">
                <a:solidFill>
                  <a:srgbClr val="1F2937"/>
                </a:solidFill>
                <a:latin typeface="Aptos"/>
              </a:defRPr>
            </a:pPr>
            <a:r>
              <a:t>Test RSSI</a:t>
            </a:r>
          </a:p>
        </p:txBody>
      </p:sp>
      <p:cxnSp>
        <p:nvCxnSpPr>
          <p:cNvPr id="12" name="Connector 11"/>
          <p:cNvCxnSpPr>
            <a:cxnSpLocks/>
            <a:stCxn id="6" idx="1"/>
            <a:endCxn id="4" idx="3"/>
          </p:cNvCxnSpPr>
          <p:nvPr/>
        </p:nvCxnSpPr>
        <p:spPr>
          <a:xfrm flipH="1">
            <a:off x="2712721" y="1776069"/>
            <a:ext cx="649223" cy="0"/>
          </a:xfrm>
          <a:prstGeom prst="line">
            <a:avLst/>
          </a:prstGeom>
          <a:ln w="20320">
            <a:solidFill>
              <a:srgbClr val="2563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  <a:stCxn id="7" idx="0"/>
            <a:endCxn id="6" idx="2"/>
          </p:cNvCxnSpPr>
          <p:nvPr/>
        </p:nvCxnSpPr>
        <p:spPr>
          <a:xfrm flipV="1">
            <a:off x="4619244" y="2589885"/>
            <a:ext cx="0" cy="813816"/>
          </a:xfrm>
          <a:prstGeom prst="line">
            <a:avLst/>
          </a:prstGeom>
          <a:ln w="20320">
            <a:solidFill>
              <a:srgbClr val="2563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  <a:stCxn id="7" idx="1"/>
            <a:endCxn id="10" idx="3"/>
          </p:cNvCxnSpPr>
          <p:nvPr/>
        </p:nvCxnSpPr>
        <p:spPr>
          <a:xfrm flipH="1">
            <a:off x="2561845" y="4308957"/>
            <a:ext cx="662939" cy="0"/>
          </a:xfrm>
          <a:prstGeom prst="line">
            <a:avLst/>
          </a:prstGeom>
          <a:ln w="20320">
            <a:solidFill>
              <a:srgbClr val="2F855A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cxnSpLocks/>
            <a:stCxn id="17" idx="1"/>
            <a:endCxn id="11" idx="3"/>
          </p:cNvCxnSpPr>
          <p:nvPr/>
        </p:nvCxnSpPr>
        <p:spPr>
          <a:xfrm flipH="1" flipV="1">
            <a:off x="8253984" y="1776069"/>
            <a:ext cx="574549" cy="1652931"/>
          </a:xfrm>
          <a:prstGeom prst="line">
            <a:avLst/>
          </a:prstGeom>
          <a:ln w="20320">
            <a:solidFill>
              <a:srgbClr val="2F855A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4">
            <a:extLst>
              <a:ext uri="{FF2B5EF4-FFF2-40B4-BE49-F238E27FC236}">
                <a16:creationId xmlns:a16="http://schemas.microsoft.com/office/drawing/2014/main" id="{6C9BBF1C-38A9-9D6F-186A-2FB29C77662A}"/>
              </a:ext>
            </a:extLst>
          </p:cNvPr>
          <p:cNvSpPr/>
          <p:nvPr/>
        </p:nvSpPr>
        <p:spPr>
          <a:xfrm>
            <a:off x="8828533" y="2615184"/>
            <a:ext cx="2514600" cy="1627632"/>
          </a:xfrm>
          <a:prstGeom prst="roundRect">
            <a:avLst/>
          </a:prstGeom>
          <a:solidFill>
            <a:srgbClr val="F0FDF4"/>
          </a:solidFill>
          <a:ln w="2159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19456" tIns="146304" rIns="164592" bIns="109728" rtlCol="0" anchor="ctr"/>
          <a:lstStyle/>
          <a:p>
            <a:pPr algn="ctr">
              <a:spcAft>
                <a:spcPts val="800"/>
              </a:spcAft>
              <a:defRPr sz="2100" b="1">
                <a:solidFill>
                  <a:srgbClr val="1F2937"/>
                </a:solidFill>
                <a:latin typeface="Aptos"/>
              </a:defRPr>
            </a:pPr>
            <a:r>
              <a:rPr lang="en-US" sz="2000" dirty="0"/>
              <a:t>Comparison</a:t>
            </a:r>
          </a:p>
          <a:p>
            <a:pPr algn="ctr">
              <a:spcAft>
                <a:spcPts val="800"/>
              </a:spcAft>
              <a:defRPr sz="2100" b="1">
                <a:solidFill>
                  <a:srgbClr val="1F2937"/>
                </a:solidFill>
                <a:latin typeface="Aptos"/>
              </a:defRPr>
            </a:pPr>
            <a:r>
              <a:rPr lang="en-US" sz="2000" dirty="0"/>
              <a:t>Evaluation</a:t>
            </a:r>
            <a:endParaRPr sz="1600" dirty="0"/>
          </a:p>
        </p:txBody>
      </p:sp>
      <p:cxnSp>
        <p:nvCxnSpPr>
          <p:cNvPr id="66" name="Connector 14">
            <a:extLst>
              <a:ext uri="{FF2B5EF4-FFF2-40B4-BE49-F238E27FC236}">
                <a16:creationId xmlns:a16="http://schemas.microsoft.com/office/drawing/2014/main" id="{A0DFEC56-EDCF-7BBE-907B-798FA5F614D5}"/>
              </a:ext>
            </a:extLst>
          </p:cNvPr>
          <p:cNvCxnSpPr>
            <a:cxnSpLocks/>
            <a:stCxn id="17" idx="1"/>
            <a:endCxn id="7" idx="3"/>
          </p:cNvCxnSpPr>
          <p:nvPr/>
        </p:nvCxnSpPr>
        <p:spPr>
          <a:xfrm flipH="1">
            <a:off x="6013704" y="3429000"/>
            <a:ext cx="2814829" cy="879957"/>
          </a:xfrm>
          <a:prstGeom prst="line">
            <a:avLst/>
          </a:prstGeom>
          <a:ln w="20320">
            <a:solidFill>
              <a:srgbClr val="D97706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15">
            <a:extLst>
              <a:ext uri="{FF2B5EF4-FFF2-40B4-BE49-F238E27FC236}">
                <a16:creationId xmlns:a16="http://schemas.microsoft.com/office/drawing/2014/main" id="{7D48909E-CD01-7D8D-2A86-5E54CD4D6564}"/>
              </a:ext>
            </a:extLst>
          </p:cNvPr>
          <p:cNvCxnSpPr>
            <a:cxnSpLocks/>
            <a:stCxn id="9" idx="1"/>
            <a:endCxn id="17" idx="3"/>
          </p:cNvCxnSpPr>
          <p:nvPr/>
        </p:nvCxnSpPr>
        <p:spPr>
          <a:xfrm flipH="1">
            <a:off x="11343133" y="3429000"/>
            <a:ext cx="675258" cy="0"/>
          </a:xfrm>
          <a:prstGeom prst="line">
            <a:avLst/>
          </a:prstGeom>
          <a:ln w="20320">
            <a:solidFill>
              <a:srgbClr val="2F855A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33</Words>
  <Application>Microsoft Office PowerPoint</Application>
  <PresentationFormat>사용자 지정</PresentationFormat>
  <Paragraphs>12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Seung Woo Lee</cp:lastModifiedBy>
  <cp:revision>3</cp:revision>
  <dcterms:created xsi:type="dcterms:W3CDTF">2013-01-27T09:14:16Z</dcterms:created>
  <dcterms:modified xsi:type="dcterms:W3CDTF">2026-09-10T18:23:24Z</dcterms:modified>
  <cp:category/>
</cp:coreProperties>
</file>